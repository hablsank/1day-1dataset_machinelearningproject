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Poppins" panose="00000500000000000000" pitchFamily="2" charset="0"/>
      <p:regular r:id="rId14"/>
      <p:bold r:id="rId15"/>
      <p:italic r:id="rId16"/>
      <p:boldItalic r:id="rId17"/>
    </p:embeddedFont>
    <p:embeddedFont>
      <p:font typeface="Poppins Bold" panose="00000800000000000000" charset="0"/>
      <p:regular r:id="rId18"/>
      <p:bold r:id="rId19"/>
    </p:embeddedFont>
    <p:embeddedFont>
      <p:font typeface="Poppins Light" panose="00000400000000000000" pitchFamily="2" charset="0"/>
      <p:regular r:id="rId20"/>
      <p: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28" autoAdjust="0"/>
  </p:normalViewPr>
  <p:slideViewPr>
    <p:cSldViewPr>
      <p:cViewPr varScale="1">
        <p:scale>
          <a:sx n="52" d="100"/>
          <a:sy n="52" d="100"/>
        </p:scale>
        <p:origin x="18" y="2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FB6142-7D40-4C78-83F3-11E0C40238AF}" type="datetimeFigureOut">
              <a:rPr lang="en-ID" smtClean="0"/>
              <a:t>09/02/2026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2E6783-45BC-4160-9C80-C127C53F22E4}" type="slidenum">
              <a:rPr lang="en-ID" smtClean="0"/>
              <a:t>‹#›</a:t>
            </a:fld>
            <a:endParaRPr lang="en-ID"/>
          </a:p>
        </p:txBody>
      </p:sp>
    </p:spTree>
    <p:extLst>
      <p:ext uri="{BB962C8B-B14F-4D97-AF65-F5344CB8AC3E}">
        <p14:creationId xmlns:p14="http://schemas.microsoft.com/office/powerpoint/2010/main" val="825942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932E6783-45BC-4160-9C80-C127C53F22E4}" type="slidenum">
              <a:rPr lang="en-ID" smtClean="0"/>
              <a:t>1</a:t>
            </a:fld>
            <a:endParaRPr lang="en-ID"/>
          </a:p>
        </p:txBody>
      </p:sp>
    </p:spTree>
    <p:extLst>
      <p:ext uri="{BB962C8B-B14F-4D97-AF65-F5344CB8AC3E}">
        <p14:creationId xmlns:p14="http://schemas.microsoft.com/office/powerpoint/2010/main" val="3752992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fld id="{932E6783-45BC-4160-9C80-C127C53F22E4}" type="slidenum">
              <a:rPr lang="en-ID" smtClean="0"/>
              <a:t>4</a:t>
            </a:fld>
            <a:endParaRPr lang="en-ID"/>
          </a:p>
        </p:txBody>
      </p:sp>
    </p:spTree>
    <p:extLst>
      <p:ext uri="{BB962C8B-B14F-4D97-AF65-F5344CB8AC3E}">
        <p14:creationId xmlns:p14="http://schemas.microsoft.com/office/powerpoint/2010/main" val="1445622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7.sv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22.png"/><Relationship Id="rId4" Type="http://schemas.openxmlformats.org/officeDocument/2006/relationships/image" Target="../media/image21.sv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sv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7.sv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7.sv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7.sv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7.sv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3"/>
            <a:stretch>
              <a:fillRect l="-12888" r="-12888"/>
            </a:stretch>
          </a:blipFill>
        </p:spPr>
      </p:sp>
      <p:sp>
        <p:nvSpPr>
          <p:cNvPr id="3" name="Freeform 3"/>
          <p:cNvSpPr/>
          <p:nvPr/>
        </p:nvSpPr>
        <p:spPr>
          <a:xfrm>
            <a:off x="-160917" y="5918649"/>
            <a:ext cx="12039355" cy="5654495"/>
          </a:xfrm>
          <a:custGeom>
            <a:avLst/>
            <a:gdLst/>
            <a:ahLst/>
            <a:cxnLst/>
            <a:rect l="l" t="t" r="r" b="b"/>
            <a:pathLst>
              <a:path w="12039355" h="5654495">
                <a:moveTo>
                  <a:pt x="0" y="0"/>
                </a:moveTo>
                <a:lnTo>
                  <a:pt x="12039354" y="0"/>
                </a:lnTo>
                <a:lnTo>
                  <a:pt x="12039354" y="5654495"/>
                </a:lnTo>
                <a:lnTo>
                  <a:pt x="0" y="5654495"/>
                </a:lnTo>
                <a:lnTo>
                  <a:pt x="0" y="0"/>
                </a:lnTo>
                <a:close/>
              </a:path>
            </a:pathLst>
          </a:custGeom>
          <a:blipFill>
            <a:blip r:embed="rId4">
              <a:alphaModFix amt="7999"/>
            </a:blip>
            <a:stretch>
              <a:fillRect l="-13441" b="-55488"/>
            </a:stretch>
          </a:blipFill>
        </p:spPr>
      </p:sp>
      <p:sp>
        <p:nvSpPr>
          <p:cNvPr id="4" name="AutoShape 4"/>
          <p:cNvSpPr/>
          <p:nvPr/>
        </p:nvSpPr>
        <p:spPr>
          <a:xfrm>
            <a:off x="1443457" y="5800930"/>
            <a:ext cx="0" cy="1125933"/>
          </a:xfrm>
          <a:prstGeom prst="line">
            <a:avLst/>
          </a:prstGeom>
          <a:ln w="38100" cap="flat">
            <a:solidFill>
              <a:srgbClr val="000000"/>
            </a:solidFill>
            <a:prstDash val="solid"/>
            <a:headEnd type="none" w="sm" len="sm"/>
            <a:tailEnd type="none" w="sm" len="sm"/>
          </a:ln>
        </p:spPr>
      </p:sp>
      <p:sp>
        <p:nvSpPr>
          <p:cNvPr id="5" name="Freeform 5"/>
          <p:cNvSpPr/>
          <p:nvPr/>
        </p:nvSpPr>
        <p:spPr>
          <a:xfrm>
            <a:off x="11484324" y="-1238742"/>
            <a:ext cx="4254697" cy="4254697"/>
          </a:xfrm>
          <a:custGeom>
            <a:avLst/>
            <a:gdLst/>
            <a:ahLst/>
            <a:cxnLst/>
            <a:rect l="l" t="t" r="r" b="b"/>
            <a:pathLst>
              <a:path w="4254697" h="4254697">
                <a:moveTo>
                  <a:pt x="0" y="0"/>
                </a:moveTo>
                <a:lnTo>
                  <a:pt x="4254697" y="0"/>
                </a:lnTo>
                <a:lnTo>
                  <a:pt x="4254697" y="4254697"/>
                </a:lnTo>
                <a:lnTo>
                  <a:pt x="0" y="4254697"/>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Freeform 6"/>
          <p:cNvSpPr/>
          <p:nvPr/>
        </p:nvSpPr>
        <p:spPr>
          <a:xfrm>
            <a:off x="1569312" y="8404902"/>
            <a:ext cx="315896" cy="377189"/>
          </a:xfrm>
          <a:custGeom>
            <a:avLst/>
            <a:gdLst/>
            <a:ahLst/>
            <a:cxnLst/>
            <a:rect l="l" t="t" r="r" b="b"/>
            <a:pathLst>
              <a:path w="315896" h="377189">
                <a:moveTo>
                  <a:pt x="0" y="0"/>
                </a:moveTo>
                <a:lnTo>
                  <a:pt x="315896" y="0"/>
                </a:lnTo>
                <a:lnTo>
                  <a:pt x="315896" y="377190"/>
                </a:lnTo>
                <a:lnTo>
                  <a:pt x="0" y="37719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8491340" y="1995585"/>
            <a:ext cx="631663" cy="521030"/>
          </a:xfrm>
          <a:custGeom>
            <a:avLst/>
            <a:gdLst/>
            <a:ahLst/>
            <a:cxnLst/>
            <a:rect l="l" t="t" r="r" b="b"/>
            <a:pathLst>
              <a:path w="631663" h="521030">
                <a:moveTo>
                  <a:pt x="0" y="0"/>
                </a:moveTo>
                <a:lnTo>
                  <a:pt x="631663" y="0"/>
                </a:lnTo>
                <a:lnTo>
                  <a:pt x="631663" y="521030"/>
                </a:lnTo>
                <a:lnTo>
                  <a:pt x="0" y="521030"/>
                </a:lnTo>
                <a:lnTo>
                  <a:pt x="0" y="0"/>
                </a:lnTo>
                <a:close/>
              </a:path>
            </a:pathLst>
          </a:custGeom>
          <a:blipFill>
            <a:blip r:embed="rId9">
              <a:extLst>
                <a:ext uri="{96DAC541-7B7A-43D3-8B79-37D633B846F1}">
                  <asvg:svgBlip xmlns:asvg="http://schemas.microsoft.com/office/drawing/2016/SVG/main" r:embed="rId10"/>
                </a:ext>
              </a:extLst>
            </a:blip>
            <a:stretch>
              <a:fillRect r="-32559" b="-60706"/>
            </a:stretch>
          </a:blipFill>
        </p:spPr>
      </p:sp>
      <p:sp>
        <p:nvSpPr>
          <p:cNvPr id="8" name="Freeform 8"/>
          <p:cNvSpPr/>
          <p:nvPr/>
        </p:nvSpPr>
        <p:spPr>
          <a:xfrm>
            <a:off x="1458753" y="436738"/>
            <a:ext cx="1108513" cy="1558847"/>
          </a:xfrm>
          <a:custGeom>
            <a:avLst/>
            <a:gdLst/>
            <a:ahLst/>
            <a:cxnLst/>
            <a:rect l="l" t="t" r="r" b="b"/>
            <a:pathLst>
              <a:path w="1108513" h="1558847">
                <a:moveTo>
                  <a:pt x="0" y="0"/>
                </a:moveTo>
                <a:lnTo>
                  <a:pt x="1108514" y="0"/>
                </a:lnTo>
                <a:lnTo>
                  <a:pt x="1108514" y="1558847"/>
                </a:lnTo>
                <a:lnTo>
                  <a:pt x="0" y="1558847"/>
                </a:lnTo>
                <a:lnTo>
                  <a:pt x="0" y="0"/>
                </a:lnTo>
                <a:close/>
              </a:path>
            </a:pathLst>
          </a:custGeom>
          <a:blipFill>
            <a:blip r:embed="rId11"/>
            <a:stretch>
              <a:fillRect/>
            </a:stretch>
          </a:blipFill>
        </p:spPr>
      </p:sp>
      <p:sp>
        <p:nvSpPr>
          <p:cNvPr id="9" name="Freeform 9"/>
          <p:cNvSpPr/>
          <p:nvPr/>
        </p:nvSpPr>
        <p:spPr>
          <a:xfrm>
            <a:off x="2958502" y="225941"/>
            <a:ext cx="1830859" cy="1824320"/>
          </a:xfrm>
          <a:custGeom>
            <a:avLst/>
            <a:gdLst/>
            <a:ahLst/>
            <a:cxnLst/>
            <a:rect l="l" t="t" r="r" b="b"/>
            <a:pathLst>
              <a:path w="1830859" h="1824320">
                <a:moveTo>
                  <a:pt x="0" y="0"/>
                </a:moveTo>
                <a:lnTo>
                  <a:pt x="1830859" y="0"/>
                </a:lnTo>
                <a:lnTo>
                  <a:pt x="1830859" y="1824320"/>
                </a:lnTo>
                <a:lnTo>
                  <a:pt x="0" y="1824320"/>
                </a:lnTo>
                <a:lnTo>
                  <a:pt x="0" y="0"/>
                </a:lnTo>
                <a:close/>
              </a:path>
            </a:pathLst>
          </a:custGeom>
          <a:blipFill>
            <a:blip r:embed="rId12"/>
            <a:stretch>
              <a:fillRect/>
            </a:stretch>
          </a:blipFill>
        </p:spPr>
      </p:sp>
      <p:sp>
        <p:nvSpPr>
          <p:cNvPr id="10" name="TextBox 10"/>
          <p:cNvSpPr txBox="1"/>
          <p:nvPr/>
        </p:nvSpPr>
        <p:spPr>
          <a:xfrm>
            <a:off x="1348207" y="3101680"/>
            <a:ext cx="13857112" cy="2366644"/>
          </a:xfrm>
          <a:prstGeom prst="rect">
            <a:avLst/>
          </a:prstGeom>
        </p:spPr>
        <p:txBody>
          <a:bodyPr lIns="0" tIns="0" rIns="0" bIns="0" rtlCol="0" anchor="t">
            <a:spAutoFit/>
          </a:bodyPr>
          <a:lstStyle/>
          <a:p>
            <a:pPr algn="l">
              <a:lnSpc>
                <a:spcPts val="8799"/>
              </a:lnSpc>
            </a:pPr>
            <a:r>
              <a:rPr lang="en-US" sz="8799" b="1" spc="-263">
                <a:solidFill>
                  <a:srgbClr val="000000"/>
                </a:solidFill>
                <a:latin typeface="Poppins Bold"/>
                <a:ea typeface="Poppins Bold"/>
                <a:cs typeface="Poppins Bold"/>
                <a:sym typeface="Poppins Bold"/>
              </a:rPr>
              <a:t>Soal LKS </a:t>
            </a:r>
          </a:p>
          <a:p>
            <a:pPr algn="l">
              <a:lnSpc>
                <a:spcPts val="8799"/>
              </a:lnSpc>
            </a:pPr>
            <a:r>
              <a:rPr lang="en-US" sz="8799" b="1" spc="-263">
                <a:solidFill>
                  <a:srgbClr val="000000"/>
                </a:solidFill>
                <a:latin typeface="Poppins Bold"/>
                <a:ea typeface="Poppins Bold"/>
                <a:cs typeface="Poppins Bold"/>
                <a:sym typeface="Poppins Bold"/>
              </a:rPr>
              <a:t>Artificial Intelligence</a:t>
            </a:r>
          </a:p>
        </p:txBody>
      </p:sp>
      <p:sp>
        <p:nvSpPr>
          <p:cNvPr id="11" name="TextBox 11"/>
          <p:cNvSpPr txBox="1"/>
          <p:nvPr/>
        </p:nvSpPr>
        <p:spPr>
          <a:xfrm>
            <a:off x="2013010" y="5881932"/>
            <a:ext cx="7109993" cy="1080135"/>
          </a:xfrm>
          <a:prstGeom prst="rect">
            <a:avLst/>
          </a:prstGeom>
        </p:spPr>
        <p:txBody>
          <a:bodyPr lIns="0" tIns="0" rIns="0" bIns="0" rtlCol="0" anchor="t">
            <a:spAutoFit/>
          </a:bodyPr>
          <a:lstStyle/>
          <a:p>
            <a:pPr algn="l">
              <a:lnSpc>
                <a:spcPts val="4349"/>
              </a:lnSpc>
            </a:pPr>
            <a:r>
              <a:rPr lang="en-US" sz="2899" dirty="0">
                <a:solidFill>
                  <a:srgbClr val="545454"/>
                </a:solidFill>
                <a:latin typeface="Poppins Light"/>
                <a:ea typeface="Poppins Light"/>
                <a:cs typeface="Poppins Light"/>
                <a:sym typeface="Poppins Light"/>
              </a:rPr>
              <a:t>Kota </a:t>
            </a:r>
            <a:r>
              <a:rPr lang="en-US" sz="2899" dirty="0" err="1">
                <a:solidFill>
                  <a:srgbClr val="545454"/>
                </a:solidFill>
                <a:latin typeface="Poppins Light"/>
                <a:ea typeface="Poppins Light"/>
                <a:cs typeface="Poppins Light"/>
                <a:sym typeface="Poppins Light"/>
              </a:rPr>
              <a:t>Suarabaya</a:t>
            </a:r>
            <a:r>
              <a:rPr lang="en-US" sz="2899" dirty="0">
                <a:solidFill>
                  <a:srgbClr val="545454"/>
                </a:solidFill>
                <a:latin typeface="Poppins Light"/>
                <a:ea typeface="Poppins Light"/>
                <a:cs typeface="Poppins Light"/>
                <a:sym typeface="Poppins Light"/>
              </a:rPr>
              <a:t>, 9 </a:t>
            </a:r>
            <a:r>
              <a:rPr lang="en-US" sz="2899" dirty="0" err="1">
                <a:solidFill>
                  <a:srgbClr val="545454"/>
                </a:solidFill>
                <a:latin typeface="Poppins Light"/>
                <a:ea typeface="Poppins Light"/>
                <a:cs typeface="Poppins Light"/>
                <a:sym typeface="Poppins Light"/>
              </a:rPr>
              <a:t>Februari</a:t>
            </a:r>
            <a:r>
              <a:rPr lang="en-US" sz="2899" dirty="0">
                <a:solidFill>
                  <a:srgbClr val="545454"/>
                </a:solidFill>
                <a:latin typeface="Poppins Light"/>
                <a:ea typeface="Poppins Light"/>
                <a:cs typeface="Poppins Light"/>
                <a:sym typeface="Poppins Light"/>
              </a:rPr>
              <a:t> 2026</a:t>
            </a:r>
          </a:p>
          <a:p>
            <a:pPr algn="l">
              <a:lnSpc>
                <a:spcPts val="4349"/>
              </a:lnSpc>
            </a:pPr>
            <a:r>
              <a:rPr lang="en-US" sz="2899" dirty="0">
                <a:solidFill>
                  <a:srgbClr val="545454"/>
                </a:solidFill>
                <a:latin typeface="Poppins Light"/>
                <a:ea typeface="Poppins Light"/>
                <a:cs typeface="Poppins Light"/>
                <a:sym typeface="Poppins Light"/>
              </a:rPr>
              <a:t>@SMKN 1 Surabaya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3223677">
            <a:off x="-1023606" y="8108869"/>
            <a:ext cx="2144723" cy="2359604"/>
          </a:xfrm>
          <a:custGeom>
            <a:avLst/>
            <a:gdLst/>
            <a:ahLst/>
            <a:cxnLst/>
            <a:rect l="l" t="t" r="r" b="b"/>
            <a:pathLst>
              <a:path w="2144723" h="2359604">
                <a:moveTo>
                  <a:pt x="0" y="0"/>
                </a:moveTo>
                <a:lnTo>
                  <a:pt x="2144723" y="0"/>
                </a:lnTo>
                <a:lnTo>
                  <a:pt x="2144723" y="2359604"/>
                </a:lnTo>
                <a:lnTo>
                  <a:pt x="0" y="2359604"/>
                </a:lnTo>
                <a:lnTo>
                  <a:pt x="0" y="0"/>
                </a:lnTo>
                <a:close/>
              </a:path>
            </a:pathLst>
          </a:custGeom>
          <a:blipFill>
            <a:blip r:embed="rId2">
              <a:extLst>
                <a:ext uri="{96DAC541-7B7A-43D3-8B79-37D633B846F1}">
                  <asvg:svgBlip xmlns:asvg="http://schemas.microsoft.com/office/drawing/2016/SVG/main" r:embed="rId3"/>
                </a:ext>
              </a:extLst>
            </a:blip>
            <a:stretch>
              <a:fillRect r="-10019"/>
            </a:stretch>
          </a:blipFill>
        </p:spPr>
      </p:sp>
      <p:sp>
        <p:nvSpPr>
          <p:cNvPr id="12" name="TextBox 12"/>
          <p:cNvSpPr txBox="1"/>
          <p:nvPr/>
        </p:nvSpPr>
        <p:spPr>
          <a:xfrm>
            <a:off x="764303" y="3655823"/>
            <a:ext cx="4962590" cy="2791855"/>
          </a:xfrm>
          <a:prstGeom prst="rect">
            <a:avLst/>
          </a:prstGeom>
        </p:spPr>
        <p:txBody>
          <a:bodyPr lIns="0" tIns="0" rIns="0" bIns="0" rtlCol="0" anchor="t">
            <a:spAutoFit/>
          </a:bodyPr>
          <a:lstStyle/>
          <a:p>
            <a:pPr algn="l">
              <a:lnSpc>
                <a:spcPts val="5430"/>
              </a:lnSpc>
            </a:pPr>
            <a:r>
              <a:rPr lang="en-US" sz="5430" b="1" spc="-162" dirty="0" err="1">
                <a:solidFill>
                  <a:srgbClr val="000000"/>
                </a:solidFill>
                <a:latin typeface="Poppins Bold"/>
                <a:ea typeface="Poppins Bold"/>
                <a:cs typeface="Poppins Bold"/>
                <a:sym typeface="Poppins Bold"/>
              </a:rPr>
              <a:t>Mengapa</a:t>
            </a:r>
            <a:r>
              <a:rPr lang="en-US" sz="5430" b="1" spc="-162" dirty="0">
                <a:solidFill>
                  <a:srgbClr val="000000"/>
                </a:solidFill>
                <a:latin typeface="Poppins Bold"/>
                <a:ea typeface="Poppins Bold"/>
                <a:cs typeface="Poppins Bold"/>
                <a:sym typeface="Poppins Bold"/>
              </a:rPr>
              <a:t> </a:t>
            </a:r>
          </a:p>
          <a:p>
            <a:pPr algn="l">
              <a:lnSpc>
                <a:spcPts val="5430"/>
              </a:lnSpc>
            </a:pPr>
            <a:r>
              <a:rPr lang="en-US" sz="5430" b="1" spc="-162" dirty="0" err="1">
                <a:solidFill>
                  <a:srgbClr val="000000"/>
                </a:solidFill>
                <a:latin typeface="Poppins Bold"/>
                <a:ea typeface="Poppins Bold"/>
                <a:cs typeface="Poppins Bold"/>
                <a:sym typeface="Poppins Bold"/>
              </a:rPr>
              <a:t>Ketahanan</a:t>
            </a:r>
            <a:r>
              <a:rPr lang="en-US" sz="5430" b="1" spc="-162" dirty="0">
                <a:solidFill>
                  <a:srgbClr val="000000"/>
                </a:solidFill>
                <a:latin typeface="Poppins Bold"/>
                <a:ea typeface="Poppins Bold"/>
                <a:cs typeface="Poppins Bold"/>
                <a:sym typeface="Poppins Bold"/>
              </a:rPr>
              <a:t> Pangan </a:t>
            </a:r>
            <a:r>
              <a:rPr lang="en-US" sz="5430" b="1" spc="-162" dirty="0" err="1">
                <a:solidFill>
                  <a:srgbClr val="000000"/>
                </a:solidFill>
                <a:latin typeface="Poppins Bold"/>
                <a:ea typeface="Poppins Bold"/>
                <a:cs typeface="Poppins Bold"/>
                <a:sym typeface="Poppins Bold"/>
              </a:rPr>
              <a:t>penting</a:t>
            </a:r>
            <a:r>
              <a:rPr lang="en-US" sz="5430" b="1" spc="-162" dirty="0">
                <a:solidFill>
                  <a:srgbClr val="000000"/>
                </a:solidFill>
                <a:latin typeface="Poppins Bold"/>
                <a:ea typeface="Poppins Bold"/>
                <a:cs typeface="Poppins Bold"/>
                <a:sym typeface="Poppins Bold"/>
              </a:rPr>
              <a:t>?</a:t>
            </a:r>
          </a:p>
        </p:txBody>
      </p:sp>
      <p:sp>
        <p:nvSpPr>
          <p:cNvPr id="17" name="TextBox 17"/>
          <p:cNvSpPr txBox="1"/>
          <p:nvPr/>
        </p:nvSpPr>
        <p:spPr>
          <a:xfrm>
            <a:off x="14163944" y="9299691"/>
            <a:ext cx="3914905" cy="396239"/>
          </a:xfrm>
          <a:prstGeom prst="rect">
            <a:avLst/>
          </a:prstGeom>
        </p:spPr>
        <p:txBody>
          <a:bodyPr lIns="0" tIns="0" rIns="0" bIns="0" rtlCol="0" anchor="t">
            <a:spAutoFit/>
          </a:bodyPr>
          <a:lstStyle/>
          <a:p>
            <a:pPr algn="ctr">
              <a:lnSpc>
                <a:spcPts val="3150"/>
              </a:lnSpc>
            </a:pPr>
            <a:r>
              <a:rPr lang="en-US" sz="2100">
                <a:solidFill>
                  <a:srgbClr val="000000"/>
                </a:solidFill>
                <a:latin typeface="Poppins"/>
                <a:ea typeface="Poppins"/>
                <a:cs typeface="Poppins"/>
                <a:sym typeface="Poppins"/>
              </a:rPr>
              <a:t>Dan masih banyak lagi....</a:t>
            </a:r>
          </a:p>
        </p:txBody>
      </p:sp>
      <p:sp>
        <p:nvSpPr>
          <p:cNvPr id="23" name="Rectangle 1">
            <a:extLst>
              <a:ext uri="{FF2B5EF4-FFF2-40B4-BE49-F238E27FC236}">
                <a16:creationId xmlns:a16="http://schemas.microsoft.com/office/drawing/2014/main" id="{A76CF7ED-021D-E0EB-4C3A-41CA8B15679A}"/>
              </a:ext>
            </a:extLst>
          </p:cNvPr>
          <p:cNvSpPr>
            <a:spLocks noGrp="1" noChangeArrowheads="1"/>
          </p:cNvSpPr>
          <p:nvPr>
            <p:ph type="title"/>
          </p:nvPr>
        </p:nvSpPr>
        <p:spPr bwMode="auto">
          <a:xfrm>
            <a:off x="4800600" y="1950303"/>
            <a:ext cx="11477822"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err="1">
                <a:ln>
                  <a:noFill/>
                </a:ln>
                <a:solidFill>
                  <a:schemeClr val="tx1"/>
                </a:solidFill>
                <a:effectLst/>
                <a:latin typeface="Arial" panose="020B0604020202020204" pitchFamily="34" charset="0"/>
              </a:rPr>
              <a:t>Menjamin</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ketersediaan</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pangan</a:t>
            </a:r>
            <a:r>
              <a:rPr kumimoji="0" lang="en-US" altLang="en-US" sz="3600" b="0" i="0" u="none" strike="noStrike" cap="none" normalizeH="0" baseline="0" dirty="0">
                <a:ln>
                  <a:noFill/>
                </a:ln>
                <a:solidFill>
                  <a:schemeClr val="tx1"/>
                </a:solidFill>
                <a:effectLst/>
                <a:latin typeface="Arial" panose="020B0604020202020204" pitchFamily="34" charset="0"/>
              </a:rPr>
              <a:t> yang </a:t>
            </a:r>
            <a:r>
              <a:rPr kumimoji="0" lang="en-US" altLang="en-US" sz="3600" b="0" i="0" u="none" strike="noStrike" cap="none" normalizeH="0" baseline="0" dirty="0" err="1">
                <a:ln>
                  <a:noFill/>
                </a:ln>
                <a:solidFill>
                  <a:schemeClr val="tx1"/>
                </a:solidFill>
                <a:effectLst/>
                <a:latin typeface="Arial" panose="020B0604020202020204" pitchFamily="34" charset="0"/>
              </a:rPr>
              <a:t>cukup</a:t>
            </a:r>
            <a:r>
              <a:rPr kumimoji="0" lang="en-US" altLang="en-US" sz="3600" b="0" i="0" u="none" strike="noStrike" cap="none" normalizeH="0" baseline="0" dirty="0">
                <a:ln>
                  <a:noFill/>
                </a:ln>
                <a:solidFill>
                  <a:schemeClr val="tx1"/>
                </a:solidFill>
                <a:effectLst/>
                <a:latin typeface="Arial" panose="020B0604020202020204" pitchFamily="34" charset="0"/>
              </a:rPr>
              <a:t>, </a:t>
            </a:r>
            <a:br>
              <a:rPr kumimoji="0" lang="en-US" altLang="en-US" sz="3600" b="0" i="0" u="none" strike="noStrike" cap="none" normalizeH="0" baseline="0" dirty="0">
                <a:ln>
                  <a:noFill/>
                </a:ln>
                <a:solidFill>
                  <a:schemeClr val="tx1"/>
                </a:solidFill>
                <a:effectLst/>
                <a:latin typeface="Arial" panose="020B0604020202020204" pitchFamily="34" charset="0"/>
              </a:rPr>
            </a:b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aman</a:t>
            </a:r>
            <a:r>
              <a:rPr kumimoji="0" lang="en-US" altLang="en-US" sz="3600" b="0" i="0" u="none" strike="noStrike" cap="none" normalizeH="0" baseline="0" dirty="0">
                <a:ln>
                  <a:noFill/>
                </a:ln>
                <a:solidFill>
                  <a:schemeClr val="tx1"/>
                </a:solidFill>
                <a:effectLst/>
                <a:latin typeface="Arial" panose="020B0604020202020204" pitchFamily="34" charset="0"/>
              </a:rPr>
              <a:t>, dan </a:t>
            </a:r>
            <a:r>
              <a:rPr kumimoji="0" lang="en-US" altLang="en-US" sz="3600" b="0" i="0" u="none" strike="noStrike" cap="none" normalizeH="0" baseline="0" dirty="0" err="1">
                <a:ln>
                  <a:noFill/>
                </a:ln>
                <a:solidFill>
                  <a:schemeClr val="tx1"/>
                </a:solidFill>
                <a:effectLst/>
                <a:latin typeface="Arial" panose="020B0604020202020204" pitchFamily="34" charset="0"/>
              </a:rPr>
              <a:t>bergizi</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err="1">
                <a:ln>
                  <a:noFill/>
                </a:ln>
                <a:solidFill>
                  <a:schemeClr val="tx1"/>
                </a:solidFill>
                <a:effectLst/>
                <a:latin typeface="Arial" panose="020B0604020202020204" pitchFamily="34" charset="0"/>
              </a:rPr>
              <a:t>Mencegah</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kelaparan</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gizi</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buruk</a:t>
            </a:r>
            <a:r>
              <a:rPr kumimoji="0" lang="en-US" altLang="en-US" sz="3600" b="0" i="0" u="none" strike="noStrike" cap="none" normalizeH="0" baseline="0" dirty="0">
                <a:ln>
                  <a:noFill/>
                </a:ln>
                <a:solidFill>
                  <a:schemeClr val="tx1"/>
                </a:solidFill>
                <a:effectLst/>
                <a:latin typeface="Arial" panose="020B0604020202020204" pitchFamily="34" charset="0"/>
              </a:rPr>
              <a:t>, dan stunting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err="1">
                <a:ln>
                  <a:noFill/>
                </a:ln>
                <a:solidFill>
                  <a:schemeClr val="tx1"/>
                </a:solidFill>
                <a:effectLst/>
                <a:latin typeface="Arial" panose="020B0604020202020204" pitchFamily="34" charset="0"/>
              </a:rPr>
              <a:t>Menjaga</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stabilitas</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sosial</a:t>
            </a:r>
            <a:r>
              <a:rPr kumimoji="0" lang="en-US" altLang="en-US" sz="3600" b="0" i="0" u="none" strike="noStrike" cap="none" normalizeH="0" baseline="0" dirty="0">
                <a:ln>
                  <a:noFill/>
                </a:ln>
                <a:solidFill>
                  <a:schemeClr val="tx1"/>
                </a:solidFill>
                <a:effectLst/>
                <a:latin typeface="Arial" panose="020B0604020202020204" pitchFamily="34" charset="0"/>
              </a:rPr>
              <a:t> dan </a:t>
            </a:r>
            <a:r>
              <a:rPr kumimoji="0" lang="en-US" altLang="en-US" sz="3600" b="0" i="0" u="none" strike="noStrike" cap="none" normalizeH="0" baseline="0" dirty="0" err="1">
                <a:ln>
                  <a:noFill/>
                </a:ln>
                <a:solidFill>
                  <a:schemeClr val="tx1"/>
                </a:solidFill>
                <a:effectLst/>
                <a:latin typeface="Arial" panose="020B0604020202020204" pitchFamily="34" charset="0"/>
              </a:rPr>
              <a:t>keamanan</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nasional</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err="1">
                <a:ln>
                  <a:noFill/>
                </a:ln>
                <a:solidFill>
                  <a:schemeClr val="tx1"/>
                </a:solidFill>
                <a:effectLst/>
                <a:latin typeface="Arial" panose="020B0604020202020204" pitchFamily="34" charset="0"/>
              </a:rPr>
              <a:t>Menopang</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pertumbuhan</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ekonomi</a:t>
            </a:r>
            <a:r>
              <a:rPr kumimoji="0" lang="en-US" altLang="en-US" sz="3600" b="0" i="0" u="none" strike="noStrike" cap="none" normalizeH="0" baseline="0" dirty="0">
                <a:ln>
                  <a:noFill/>
                </a:ln>
                <a:solidFill>
                  <a:schemeClr val="tx1"/>
                </a:solidFill>
                <a:effectLst/>
                <a:latin typeface="Arial" panose="020B0604020202020204" pitchFamily="34" charset="0"/>
              </a:rPr>
              <a:t> dan </a:t>
            </a:r>
            <a:br>
              <a:rPr kumimoji="0" lang="en-US" altLang="en-US" sz="3600" b="0" i="0" u="none" strike="noStrike" cap="none" normalizeH="0" baseline="0" dirty="0">
                <a:ln>
                  <a:noFill/>
                </a:ln>
                <a:solidFill>
                  <a:schemeClr val="tx1"/>
                </a:solidFill>
                <a:effectLst/>
                <a:latin typeface="Arial" panose="020B0604020202020204" pitchFamily="34" charset="0"/>
              </a:rPr>
            </a:b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kesejahteraan</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petani</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err="1">
                <a:ln>
                  <a:noFill/>
                </a:ln>
                <a:solidFill>
                  <a:schemeClr val="tx1"/>
                </a:solidFill>
                <a:effectLst/>
                <a:latin typeface="Arial" panose="020B0604020202020204" pitchFamily="34" charset="0"/>
              </a:rPr>
              <a:t>Meningkatkan</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kualitas</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sumber</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daya</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manusia</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err="1">
                <a:ln>
                  <a:noFill/>
                </a:ln>
                <a:solidFill>
                  <a:schemeClr val="tx1"/>
                </a:solidFill>
                <a:effectLst/>
                <a:latin typeface="Arial" panose="020B0604020202020204" pitchFamily="34" charset="0"/>
              </a:rPr>
              <a:t>Mengurangi</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ketergantungan</a:t>
            </a:r>
            <a:r>
              <a:rPr kumimoji="0" lang="en-US" altLang="en-US" sz="3600" b="0" i="0" u="none" strike="noStrike" cap="none" normalizeH="0" baseline="0" dirty="0">
                <a:ln>
                  <a:noFill/>
                </a:ln>
                <a:solidFill>
                  <a:schemeClr val="tx1"/>
                </a:solidFill>
                <a:effectLst/>
                <a:latin typeface="Arial" panose="020B0604020202020204" pitchFamily="34" charset="0"/>
              </a:rPr>
              <a:t> pada </a:t>
            </a:r>
            <a:r>
              <a:rPr kumimoji="0" lang="en-US" altLang="en-US" sz="3600" b="0" i="0" u="none" strike="noStrike" cap="none" normalizeH="0" baseline="0" dirty="0" err="1">
                <a:ln>
                  <a:noFill/>
                </a:ln>
                <a:solidFill>
                  <a:schemeClr val="tx1"/>
                </a:solidFill>
                <a:effectLst/>
                <a:latin typeface="Arial" panose="020B0604020202020204" pitchFamily="34" charset="0"/>
              </a:rPr>
              <a:t>impor</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pangan</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err="1">
                <a:ln>
                  <a:noFill/>
                </a:ln>
                <a:solidFill>
                  <a:schemeClr val="tx1"/>
                </a:solidFill>
                <a:effectLst/>
                <a:latin typeface="Arial" panose="020B0604020202020204" pitchFamily="34" charset="0"/>
              </a:rPr>
              <a:t>Memperkuat</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kemandirian</a:t>
            </a:r>
            <a:r>
              <a:rPr kumimoji="0" lang="en-US" altLang="en-US" sz="3600" b="0" i="0" u="none" strike="noStrike" cap="none" normalizeH="0" baseline="0" dirty="0">
                <a:ln>
                  <a:noFill/>
                </a:ln>
                <a:solidFill>
                  <a:schemeClr val="tx1"/>
                </a:solidFill>
                <a:effectLst/>
                <a:latin typeface="Arial" panose="020B0604020202020204" pitchFamily="34" charset="0"/>
              </a:rPr>
              <a:t> dan </a:t>
            </a:r>
            <a:r>
              <a:rPr kumimoji="0" lang="en-US" altLang="en-US" sz="3600" b="0" i="0" u="none" strike="noStrike" cap="none" normalizeH="0" baseline="0" dirty="0" err="1">
                <a:ln>
                  <a:noFill/>
                </a:ln>
                <a:solidFill>
                  <a:schemeClr val="tx1"/>
                </a:solidFill>
                <a:effectLst/>
                <a:latin typeface="Arial" panose="020B0604020202020204" pitchFamily="34" charset="0"/>
              </a:rPr>
              <a:t>kedaulatan</a:t>
            </a:r>
            <a:r>
              <a:rPr kumimoji="0" lang="en-US" altLang="en-US" sz="3600" b="0" i="0" u="none" strike="noStrike" cap="none" normalizeH="0" baseline="0" dirty="0">
                <a:ln>
                  <a:noFill/>
                </a:ln>
                <a:solidFill>
                  <a:schemeClr val="tx1"/>
                </a:solidFill>
                <a:effectLst/>
                <a:latin typeface="Arial" panose="020B0604020202020204" pitchFamily="34" charset="0"/>
              </a:rPr>
              <a:t> </a:t>
            </a:r>
            <a:br>
              <a:rPr kumimoji="0" lang="en-US" altLang="en-US" sz="3600" b="0" i="0" u="none" strike="noStrike" cap="none" normalizeH="0" baseline="0" dirty="0">
                <a:ln>
                  <a:noFill/>
                </a:ln>
                <a:solidFill>
                  <a:schemeClr val="tx1"/>
                </a:solidFill>
                <a:effectLst/>
                <a:latin typeface="Arial" panose="020B0604020202020204" pitchFamily="34" charset="0"/>
              </a:rPr>
            </a:b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pangan</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nasional</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err="1">
                <a:ln>
                  <a:noFill/>
                </a:ln>
                <a:solidFill>
                  <a:schemeClr val="tx1"/>
                </a:solidFill>
                <a:effectLst/>
                <a:latin typeface="Arial" panose="020B0604020202020204" pitchFamily="34" charset="0"/>
              </a:rPr>
              <a:t>Menghadapi</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dampak</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perubahan</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iklim</a:t>
            </a:r>
            <a:r>
              <a:rPr kumimoji="0" lang="en-US" altLang="en-US" sz="3600" b="0" i="0" u="none" strike="noStrike" cap="none" normalizeH="0" baseline="0" dirty="0">
                <a:ln>
                  <a:noFill/>
                </a:ln>
                <a:solidFill>
                  <a:schemeClr val="tx1"/>
                </a:solidFill>
                <a:effectLst/>
                <a:latin typeface="Arial" panose="020B0604020202020204" pitchFamily="34" charset="0"/>
              </a:rPr>
              <a:t> dan </a:t>
            </a:r>
            <a:r>
              <a:rPr kumimoji="0" lang="en-US" altLang="en-US" sz="3600" b="0" i="0" u="none" strike="noStrike" cap="none" normalizeH="0" baseline="0" dirty="0" err="1">
                <a:ln>
                  <a:noFill/>
                </a:ln>
                <a:solidFill>
                  <a:schemeClr val="tx1"/>
                </a:solidFill>
                <a:effectLst/>
                <a:latin typeface="Arial" panose="020B0604020202020204" pitchFamily="34" charset="0"/>
              </a:rPr>
              <a:t>krisis</a:t>
            </a:r>
            <a:r>
              <a:rPr kumimoji="0" lang="en-US" altLang="en-US" sz="3600" b="0" i="0" u="none" strike="noStrike" cap="none" normalizeH="0" baseline="0" dirty="0">
                <a:ln>
                  <a:noFill/>
                </a:ln>
                <a:solidFill>
                  <a:schemeClr val="tx1"/>
                </a:solidFill>
                <a:effectLst/>
                <a:latin typeface="Arial" panose="020B0604020202020204" pitchFamily="34" charset="0"/>
              </a:rPr>
              <a:t> global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err="1">
                <a:ln>
                  <a:noFill/>
                </a:ln>
                <a:solidFill>
                  <a:schemeClr val="tx1"/>
                </a:solidFill>
                <a:effectLst/>
                <a:latin typeface="Arial" panose="020B0604020202020204" pitchFamily="34" charset="0"/>
              </a:rPr>
              <a:t>Menjadi</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fondasi</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utama</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pembangunan</a:t>
            </a:r>
            <a:r>
              <a:rPr kumimoji="0" lang="en-US" altLang="en-US" sz="3600" b="0" i="0" u="none" strike="noStrike" cap="none" normalizeH="0" baseline="0" dirty="0">
                <a:ln>
                  <a:noFill/>
                </a:ln>
                <a:solidFill>
                  <a:schemeClr val="tx1"/>
                </a:solidFill>
                <a:effectLst/>
                <a:latin typeface="Arial" panose="020B0604020202020204" pitchFamily="34" charset="0"/>
              </a:rPr>
              <a:t> </a:t>
            </a:r>
            <a:r>
              <a:rPr kumimoji="0" lang="en-US" altLang="en-US" sz="3600" b="0" i="0" u="none" strike="noStrike" cap="none" normalizeH="0" baseline="0" dirty="0" err="1">
                <a:ln>
                  <a:noFill/>
                </a:ln>
                <a:solidFill>
                  <a:schemeClr val="tx1"/>
                </a:solidFill>
                <a:effectLst/>
                <a:latin typeface="Arial" panose="020B0604020202020204" pitchFamily="34" charset="0"/>
              </a:rPr>
              <a:t>berkelanjutan</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48207" y="2441082"/>
            <a:ext cx="1405871" cy="79098"/>
            <a:chOff x="0" y="0"/>
            <a:chExt cx="337718" cy="19001"/>
          </a:xfrm>
        </p:grpSpPr>
        <p:sp>
          <p:nvSpPr>
            <p:cNvPr id="3" name="Freeform 3"/>
            <p:cNvSpPr/>
            <p:nvPr/>
          </p:nvSpPr>
          <p:spPr>
            <a:xfrm>
              <a:off x="0" y="0"/>
              <a:ext cx="337718" cy="19001"/>
            </a:xfrm>
            <a:custGeom>
              <a:avLst/>
              <a:gdLst/>
              <a:ahLst/>
              <a:cxnLst/>
              <a:rect l="l" t="t" r="r" b="b"/>
              <a:pathLst>
                <a:path w="337718" h="19001">
                  <a:moveTo>
                    <a:pt x="9500" y="0"/>
                  </a:moveTo>
                  <a:lnTo>
                    <a:pt x="328217" y="0"/>
                  </a:lnTo>
                  <a:cubicBezTo>
                    <a:pt x="330737" y="0"/>
                    <a:pt x="333153" y="1001"/>
                    <a:pt x="334935" y="2783"/>
                  </a:cubicBezTo>
                  <a:cubicBezTo>
                    <a:pt x="336717" y="4564"/>
                    <a:pt x="337718" y="6981"/>
                    <a:pt x="337718" y="9500"/>
                  </a:cubicBezTo>
                  <a:lnTo>
                    <a:pt x="337718" y="9500"/>
                  </a:lnTo>
                  <a:cubicBezTo>
                    <a:pt x="337718" y="14747"/>
                    <a:pt x="333464" y="19001"/>
                    <a:pt x="328217" y="19001"/>
                  </a:cubicBezTo>
                  <a:lnTo>
                    <a:pt x="9500" y="19001"/>
                  </a:lnTo>
                  <a:cubicBezTo>
                    <a:pt x="4254" y="19001"/>
                    <a:pt x="0" y="14747"/>
                    <a:pt x="0" y="9500"/>
                  </a:cubicBezTo>
                  <a:lnTo>
                    <a:pt x="0" y="9500"/>
                  </a:lnTo>
                  <a:cubicBezTo>
                    <a:pt x="0" y="4254"/>
                    <a:pt x="4254" y="0"/>
                    <a:pt x="9500" y="0"/>
                  </a:cubicBezTo>
                  <a:close/>
                </a:path>
              </a:pathLst>
            </a:custGeom>
            <a:solidFill>
              <a:srgbClr val="000000"/>
            </a:solidFill>
          </p:spPr>
        </p:sp>
        <p:sp>
          <p:nvSpPr>
            <p:cNvPr id="4" name="TextBox 4"/>
            <p:cNvSpPr txBox="1"/>
            <p:nvPr/>
          </p:nvSpPr>
          <p:spPr>
            <a:xfrm>
              <a:off x="0" y="-85725"/>
              <a:ext cx="337718" cy="104726"/>
            </a:xfrm>
            <a:prstGeom prst="rect">
              <a:avLst/>
            </a:prstGeom>
          </p:spPr>
          <p:txBody>
            <a:bodyPr lIns="55697" tIns="55697" rIns="55697" bIns="55697" rtlCol="0" anchor="ctr"/>
            <a:lstStyle/>
            <a:p>
              <a:pPr algn="ctr">
                <a:lnSpc>
                  <a:spcPts val="3300"/>
                </a:lnSpc>
              </a:pPr>
              <a:endParaRPr/>
            </a:p>
          </p:txBody>
        </p:sp>
      </p:grpSp>
      <p:sp>
        <p:nvSpPr>
          <p:cNvPr id="5" name="Freeform 5"/>
          <p:cNvSpPr/>
          <p:nvPr/>
        </p:nvSpPr>
        <p:spPr>
          <a:xfrm>
            <a:off x="14442338" y="-1625367"/>
            <a:ext cx="4066449" cy="4066449"/>
          </a:xfrm>
          <a:custGeom>
            <a:avLst/>
            <a:gdLst/>
            <a:ahLst/>
            <a:cxnLst/>
            <a:rect l="l" t="t" r="r" b="b"/>
            <a:pathLst>
              <a:path w="4066449" h="4066449">
                <a:moveTo>
                  <a:pt x="0" y="0"/>
                </a:moveTo>
                <a:lnTo>
                  <a:pt x="4066448" y="0"/>
                </a:lnTo>
                <a:lnTo>
                  <a:pt x="4066448" y="4066449"/>
                </a:lnTo>
                <a:lnTo>
                  <a:pt x="0" y="406644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5507037" y="6322060"/>
            <a:ext cx="8112024" cy="4155827"/>
          </a:xfrm>
          <a:custGeom>
            <a:avLst/>
            <a:gdLst/>
            <a:ahLst/>
            <a:cxnLst/>
            <a:rect l="l" t="t" r="r" b="b"/>
            <a:pathLst>
              <a:path w="8112024" h="4155827">
                <a:moveTo>
                  <a:pt x="0" y="0"/>
                </a:moveTo>
                <a:lnTo>
                  <a:pt x="8112025" y="0"/>
                </a:lnTo>
                <a:lnTo>
                  <a:pt x="8112025" y="4155827"/>
                </a:lnTo>
                <a:lnTo>
                  <a:pt x="0" y="4155827"/>
                </a:lnTo>
                <a:lnTo>
                  <a:pt x="0" y="0"/>
                </a:lnTo>
                <a:close/>
              </a:path>
            </a:pathLst>
          </a:custGeom>
          <a:blipFill>
            <a:blip r:embed="rId4">
              <a:alphaModFix amt="12000"/>
            </a:blip>
            <a:stretch>
              <a:fillRect b="-49813"/>
            </a:stretch>
          </a:blipFill>
        </p:spPr>
      </p:sp>
      <p:sp>
        <p:nvSpPr>
          <p:cNvPr id="9" name="Freeform 9"/>
          <p:cNvSpPr/>
          <p:nvPr/>
        </p:nvSpPr>
        <p:spPr>
          <a:xfrm>
            <a:off x="17111719" y="8780326"/>
            <a:ext cx="918322" cy="1377341"/>
          </a:xfrm>
          <a:custGeom>
            <a:avLst/>
            <a:gdLst/>
            <a:ahLst/>
            <a:cxnLst/>
            <a:rect l="l" t="t" r="r" b="b"/>
            <a:pathLst>
              <a:path w="918322" h="1377341">
                <a:moveTo>
                  <a:pt x="0" y="0"/>
                </a:moveTo>
                <a:lnTo>
                  <a:pt x="918322" y="0"/>
                </a:lnTo>
                <a:lnTo>
                  <a:pt x="918322" y="1377341"/>
                </a:lnTo>
                <a:lnTo>
                  <a:pt x="0" y="1377341"/>
                </a:lnTo>
                <a:lnTo>
                  <a:pt x="0" y="0"/>
                </a:lnTo>
                <a:close/>
              </a:path>
            </a:pathLst>
          </a:custGeom>
          <a:blipFill>
            <a:blip r:embed="rId5">
              <a:extLst>
                <a:ext uri="{96DAC541-7B7A-43D3-8B79-37D633B846F1}">
                  <asvg:svgBlip xmlns:asvg="http://schemas.microsoft.com/office/drawing/2016/SVG/main" r:embed="rId6"/>
                </a:ext>
              </a:extLst>
            </a:blip>
            <a:stretch>
              <a:fillRect l="-49984"/>
            </a:stretch>
          </a:blipFill>
        </p:spPr>
      </p:sp>
      <p:sp>
        <p:nvSpPr>
          <p:cNvPr id="10" name="TextBox 10"/>
          <p:cNvSpPr txBox="1"/>
          <p:nvPr/>
        </p:nvSpPr>
        <p:spPr>
          <a:xfrm>
            <a:off x="1348207" y="1095375"/>
            <a:ext cx="6771324" cy="951030"/>
          </a:xfrm>
          <a:prstGeom prst="rect">
            <a:avLst/>
          </a:prstGeom>
        </p:spPr>
        <p:txBody>
          <a:bodyPr lIns="0" tIns="0" rIns="0" bIns="0" rtlCol="0" anchor="t">
            <a:spAutoFit/>
          </a:bodyPr>
          <a:lstStyle/>
          <a:p>
            <a:pPr algn="l">
              <a:lnSpc>
                <a:spcPts val="7200"/>
              </a:lnSpc>
            </a:pPr>
            <a:r>
              <a:rPr lang="en-US" sz="7200" b="1" spc="-215" dirty="0">
                <a:solidFill>
                  <a:srgbClr val="000000"/>
                </a:solidFill>
                <a:latin typeface="Poppins Bold"/>
                <a:ea typeface="Poppins Bold"/>
                <a:cs typeface="Poppins Bold"/>
                <a:sym typeface="Poppins Bold"/>
              </a:rPr>
              <a:t>SDG’s</a:t>
            </a:r>
          </a:p>
        </p:txBody>
      </p:sp>
      <p:pic>
        <p:nvPicPr>
          <p:cNvPr id="13" name="Picture 12">
            <a:extLst>
              <a:ext uri="{FF2B5EF4-FFF2-40B4-BE49-F238E27FC236}">
                <a16:creationId xmlns:a16="http://schemas.microsoft.com/office/drawing/2014/main" id="{3C264A76-49BE-96D9-2CD0-8EB7E43A4B28}"/>
              </a:ext>
            </a:extLst>
          </p:cNvPr>
          <p:cNvPicPr>
            <a:picLocks noChangeAspect="1"/>
          </p:cNvPicPr>
          <p:nvPr/>
        </p:nvPicPr>
        <p:blipFill>
          <a:blip r:embed="rId7"/>
          <a:stretch>
            <a:fillRect/>
          </a:stretch>
        </p:blipFill>
        <p:spPr>
          <a:xfrm>
            <a:off x="3200400" y="2125980"/>
            <a:ext cx="12268200" cy="72631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66153" y="1885053"/>
            <a:ext cx="1405871" cy="79098"/>
            <a:chOff x="0" y="0"/>
            <a:chExt cx="337718" cy="19001"/>
          </a:xfrm>
        </p:grpSpPr>
        <p:sp>
          <p:nvSpPr>
            <p:cNvPr id="3" name="Freeform 3"/>
            <p:cNvSpPr/>
            <p:nvPr/>
          </p:nvSpPr>
          <p:spPr>
            <a:xfrm>
              <a:off x="0" y="0"/>
              <a:ext cx="337718" cy="19001"/>
            </a:xfrm>
            <a:custGeom>
              <a:avLst/>
              <a:gdLst/>
              <a:ahLst/>
              <a:cxnLst/>
              <a:rect l="l" t="t" r="r" b="b"/>
              <a:pathLst>
                <a:path w="337718" h="19001">
                  <a:moveTo>
                    <a:pt x="9500" y="0"/>
                  </a:moveTo>
                  <a:lnTo>
                    <a:pt x="328217" y="0"/>
                  </a:lnTo>
                  <a:cubicBezTo>
                    <a:pt x="330737" y="0"/>
                    <a:pt x="333153" y="1001"/>
                    <a:pt x="334935" y="2783"/>
                  </a:cubicBezTo>
                  <a:cubicBezTo>
                    <a:pt x="336717" y="4564"/>
                    <a:pt x="337718" y="6981"/>
                    <a:pt x="337718" y="9500"/>
                  </a:cubicBezTo>
                  <a:lnTo>
                    <a:pt x="337718" y="9500"/>
                  </a:lnTo>
                  <a:cubicBezTo>
                    <a:pt x="337718" y="14747"/>
                    <a:pt x="333464" y="19001"/>
                    <a:pt x="328217" y="19001"/>
                  </a:cubicBezTo>
                  <a:lnTo>
                    <a:pt x="9500" y="19001"/>
                  </a:lnTo>
                  <a:cubicBezTo>
                    <a:pt x="4254" y="19001"/>
                    <a:pt x="0" y="14747"/>
                    <a:pt x="0" y="9500"/>
                  </a:cubicBezTo>
                  <a:lnTo>
                    <a:pt x="0" y="9500"/>
                  </a:lnTo>
                  <a:cubicBezTo>
                    <a:pt x="0" y="4254"/>
                    <a:pt x="4254" y="0"/>
                    <a:pt x="9500" y="0"/>
                  </a:cubicBezTo>
                  <a:close/>
                </a:path>
              </a:pathLst>
            </a:custGeom>
            <a:solidFill>
              <a:srgbClr val="000000"/>
            </a:solidFill>
          </p:spPr>
        </p:sp>
        <p:sp>
          <p:nvSpPr>
            <p:cNvPr id="4" name="TextBox 4"/>
            <p:cNvSpPr txBox="1"/>
            <p:nvPr/>
          </p:nvSpPr>
          <p:spPr>
            <a:xfrm>
              <a:off x="0" y="-85725"/>
              <a:ext cx="337718" cy="104726"/>
            </a:xfrm>
            <a:prstGeom prst="rect">
              <a:avLst/>
            </a:prstGeom>
          </p:spPr>
          <p:txBody>
            <a:bodyPr lIns="55697" tIns="55697" rIns="55697" bIns="55697" rtlCol="0" anchor="ctr"/>
            <a:lstStyle/>
            <a:p>
              <a:pPr algn="ctr">
                <a:lnSpc>
                  <a:spcPts val="3300"/>
                </a:lnSpc>
              </a:pPr>
              <a:endParaRPr/>
            </a:p>
          </p:txBody>
        </p:sp>
      </p:grpSp>
      <p:sp>
        <p:nvSpPr>
          <p:cNvPr id="5" name="Freeform 5"/>
          <p:cNvSpPr/>
          <p:nvPr/>
        </p:nvSpPr>
        <p:spPr>
          <a:xfrm>
            <a:off x="5507037" y="6322060"/>
            <a:ext cx="8112024" cy="4155827"/>
          </a:xfrm>
          <a:custGeom>
            <a:avLst/>
            <a:gdLst/>
            <a:ahLst/>
            <a:cxnLst/>
            <a:rect l="l" t="t" r="r" b="b"/>
            <a:pathLst>
              <a:path w="8112024" h="4155827">
                <a:moveTo>
                  <a:pt x="0" y="0"/>
                </a:moveTo>
                <a:lnTo>
                  <a:pt x="8112025" y="0"/>
                </a:lnTo>
                <a:lnTo>
                  <a:pt x="8112025" y="4155827"/>
                </a:lnTo>
                <a:lnTo>
                  <a:pt x="0" y="4155827"/>
                </a:lnTo>
                <a:lnTo>
                  <a:pt x="0" y="0"/>
                </a:lnTo>
                <a:close/>
              </a:path>
            </a:pathLst>
          </a:custGeom>
          <a:blipFill>
            <a:blip r:embed="rId3">
              <a:alphaModFix amt="12000"/>
            </a:blip>
            <a:stretch>
              <a:fillRect b="-49813"/>
            </a:stretch>
          </a:blipFill>
        </p:spPr>
      </p:sp>
      <p:sp>
        <p:nvSpPr>
          <p:cNvPr id="6" name="Freeform 6"/>
          <p:cNvSpPr/>
          <p:nvPr/>
        </p:nvSpPr>
        <p:spPr>
          <a:xfrm>
            <a:off x="17111719" y="8780326"/>
            <a:ext cx="918322" cy="1377341"/>
          </a:xfrm>
          <a:custGeom>
            <a:avLst/>
            <a:gdLst/>
            <a:ahLst/>
            <a:cxnLst/>
            <a:rect l="l" t="t" r="r" b="b"/>
            <a:pathLst>
              <a:path w="918322" h="1377341">
                <a:moveTo>
                  <a:pt x="0" y="0"/>
                </a:moveTo>
                <a:lnTo>
                  <a:pt x="918322" y="0"/>
                </a:lnTo>
                <a:lnTo>
                  <a:pt x="918322" y="1377341"/>
                </a:lnTo>
                <a:lnTo>
                  <a:pt x="0" y="1377341"/>
                </a:lnTo>
                <a:lnTo>
                  <a:pt x="0" y="0"/>
                </a:lnTo>
                <a:close/>
              </a:path>
            </a:pathLst>
          </a:custGeom>
          <a:blipFill>
            <a:blip r:embed="rId4">
              <a:extLst>
                <a:ext uri="{96DAC541-7B7A-43D3-8B79-37D633B846F1}">
                  <asvg:svgBlip xmlns:asvg="http://schemas.microsoft.com/office/drawing/2016/SVG/main" r:embed="rId5"/>
                </a:ext>
              </a:extLst>
            </a:blip>
            <a:stretch>
              <a:fillRect l="-49984"/>
            </a:stretch>
          </a:blipFill>
        </p:spPr>
      </p:sp>
      <p:sp>
        <p:nvSpPr>
          <p:cNvPr id="8" name="TextBox 8"/>
          <p:cNvSpPr txBox="1"/>
          <p:nvPr/>
        </p:nvSpPr>
        <p:spPr>
          <a:xfrm>
            <a:off x="1348207" y="546596"/>
            <a:ext cx="6771324" cy="951030"/>
          </a:xfrm>
          <a:prstGeom prst="rect">
            <a:avLst/>
          </a:prstGeom>
        </p:spPr>
        <p:txBody>
          <a:bodyPr lIns="0" tIns="0" rIns="0" bIns="0" rtlCol="0" anchor="t">
            <a:spAutoFit/>
          </a:bodyPr>
          <a:lstStyle/>
          <a:p>
            <a:pPr algn="l">
              <a:lnSpc>
                <a:spcPts val="7200"/>
              </a:lnSpc>
            </a:pPr>
            <a:r>
              <a:rPr lang="en-US" sz="7200" b="1" spc="-215" dirty="0">
                <a:solidFill>
                  <a:srgbClr val="000000"/>
                </a:solidFill>
                <a:latin typeface="Poppins Bold"/>
                <a:ea typeface="Poppins Bold"/>
                <a:cs typeface="Poppins Bold"/>
                <a:sym typeface="Poppins Bold"/>
              </a:rPr>
              <a:t>About Data</a:t>
            </a:r>
          </a:p>
        </p:txBody>
      </p:sp>
      <p:sp>
        <p:nvSpPr>
          <p:cNvPr id="9" name="TextBox 9"/>
          <p:cNvSpPr txBox="1"/>
          <p:nvPr/>
        </p:nvSpPr>
        <p:spPr>
          <a:xfrm>
            <a:off x="914401" y="2609170"/>
            <a:ext cx="7041836" cy="6800708"/>
          </a:xfrm>
          <a:prstGeom prst="rect">
            <a:avLst/>
          </a:prstGeom>
        </p:spPr>
        <p:txBody>
          <a:bodyPr wrap="square" lIns="0" tIns="0" rIns="0" bIns="0" rtlCol="0" anchor="t">
            <a:spAutoFit/>
          </a:bodyPr>
          <a:lstStyle/>
          <a:p>
            <a:pPr>
              <a:lnSpc>
                <a:spcPts val="4050"/>
              </a:lnSpc>
            </a:pPr>
            <a:r>
              <a:rPr lang="en-US" sz="2700" dirty="0">
                <a:solidFill>
                  <a:srgbClr val="545454"/>
                </a:solidFill>
                <a:latin typeface="Poppins Light"/>
                <a:ea typeface="Poppins Light"/>
                <a:cs typeface="Poppins Light"/>
                <a:sym typeface="Poppins Light"/>
              </a:rPr>
              <a:t>Dataset </a:t>
            </a:r>
            <a:r>
              <a:rPr lang="en-US" sz="2700" dirty="0" err="1">
                <a:solidFill>
                  <a:srgbClr val="545454"/>
                </a:solidFill>
                <a:latin typeface="Poppins Light"/>
                <a:ea typeface="Poppins Light"/>
                <a:cs typeface="Poppins Light"/>
                <a:sym typeface="Poppins Light"/>
              </a:rPr>
              <a:t>ini</a:t>
            </a:r>
            <a:r>
              <a:rPr lang="en-US" sz="2700" dirty="0">
                <a:solidFill>
                  <a:srgbClr val="545454"/>
                </a:solidFill>
                <a:latin typeface="Poppins Light"/>
                <a:ea typeface="Poppins Light"/>
                <a:cs typeface="Poppins Light"/>
                <a:sym typeface="Poppins Light"/>
              </a:rPr>
              <a:t> </a:t>
            </a:r>
            <a:r>
              <a:rPr lang="en-US" sz="2700" dirty="0" err="1">
                <a:solidFill>
                  <a:srgbClr val="545454"/>
                </a:solidFill>
                <a:latin typeface="Poppins Light"/>
                <a:ea typeface="Poppins Light"/>
                <a:cs typeface="Poppins Light"/>
                <a:sym typeface="Poppins Light"/>
              </a:rPr>
              <a:t>berisi</a:t>
            </a:r>
            <a:r>
              <a:rPr lang="en-US" sz="2700" dirty="0">
                <a:solidFill>
                  <a:srgbClr val="545454"/>
                </a:solidFill>
                <a:latin typeface="Poppins Light"/>
                <a:ea typeface="Poppins Light"/>
                <a:cs typeface="Poppins Light"/>
                <a:sym typeface="Poppins Light"/>
              </a:rPr>
              <a:t> </a:t>
            </a:r>
            <a:r>
              <a:rPr lang="en-US" sz="2700" dirty="0" err="1">
                <a:solidFill>
                  <a:srgbClr val="545454"/>
                </a:solidFill>
                <a:latin typeface="Poppins Light"/>
                <a:ea typeface="Poppins Light"/>
                <a:cs typeface="Poppins Light"/>
                <a:sym typeface="Poppins Light"/>
              </a:rPr>
              <a:t>informasi</a:t>
            </a:r>
            <a:r>
              <a:rPr lang="en-US" sz="2700" dirty="0">
                <a:solidFill>
                  <a:srgbClr val="545454"/>
                </a:solidFill>
                <a:latin typeface="Poppins Light"/>
                <a:ea typeface="Poppins Light"/>
                <a:cs typeface="Poppins Light"/>
                <a:sym typeface="Poppins Light"/>
              </a:rPr>
              <a:t> </a:t>
            </a:r>
            <a:r>
              <a:rPr lang="en-US" sz="2700" dirty="0" err="1">
                <a:solidFill>
                  <a:srgbClr val="545454"/>
                </a:solidFill>
                <a:latin typeface="Poppins Light"/>
                <a:ea typeface="Poppins Light"/>
                <a:cs typeface="Poppins Light"/>
                <a:sym typeface="Poppins Light"/>
              </a:rPr>
              <a:t>mengenai</a:t>
            </a:r>
            <a:r>
              <a:rPr lang="en-US" sz="2700" dirty="0">
                <a:solidFill>
                  <a:srgbClr val="545454"/>
                </a:solidFill>
                <a:latin typeface="Poppins Light"/>
                <a:ea typeface="Poppins Light"/>
                <a:cs typeface="Poppins Light"/>
                <a:sym typeface="Poppins Light"/>
              </a:rPr>
              <a:t> </a:t>
            </a:r>
            <a:r>
              <a:rPr lang="en-US" sz="2700" dirty="0" err="1">
                <a:solidFill>
                  <a:srgbClr val="545454"/>
                </a:solidFill>
                <a:latin typeface="Poppins Light"/>
                <a:ea typeface="Poppins Light"/>
                <a:cs typeface="Poppins Light"/>
                <a:sym typeface="Poppins Light"/>
              </a:rPr>
              <a:t>prediksi</a:t>
            </a:r>
            <a:r>
              <a:rPr lang="en-US" sz="2700" dirty="0">
                <a:solidFill>
                  <a:srgbClr val="545454"/>
                </a:solidFill>
                <a:latin typeface="Poppins Light"/>
                <a:ea typeface="Poppins Light"/>
                <a:cs typeface="Poppins Light"/>
                <a:sym typeface="Poppins Light"/>
              </a:rPr>
              <a:t> </a:t>
            </a:r>
            <a:r>
              <a:rPr lang="en-US" sz="2700" dirty="0" err="1">
                <a:solidFill>
                  <a:srgbClr val="545454"/>
                </a:solidFill>
                <a:latin typeface="Poppins Light"/>
                <a:ea typeface="Poppins Light"/>
                <a:cs typeface="Poppins Light"/>
                <a:sym typeface="Poppins Light"/>
              </a:rPr>
              <a:t>panen</a:t>
            </a:r>
            <a:r>
              <a:rPr lang="en-US" sz="2700" dirty="0">
                <a:solidFill>
                  <a:srgbClr val="545454"/>
                </a:solidFill>
                <a:latin typeface="Poppins Light"/>
                <a:ea typeface="Poppins Light"/>
                <a:cs typeface="Poppins Light"/>
                <a:sym typeface="Poppins Light"/>
              </a:rPr>
              <a:t> padi yang </a:t>
            </a:r>
            <a:r>
              <a:rPr lang="en-US" sz="2700" dirty="0" err="1">
                <a:solidFill>
                  <a:srgbClr val="545454"/>
                </a:solidFill>
                <a:latin typeface="Poppins Light"/>
                <a:ea typeface="Poppins Light"/>
                <a:cs typeface="Poppins Light"/>
                <a:sym typeface="Poppins Light"/>
              </a:rPr>
              <a:t>ada</a:t>
            </a:r>
            <a:r>
              <a:rPr lang="en-US" sz="2700" dirty="0">
                <a:solidFill>
                  <a:srgbClr val="545454"/>
                </a:solidFill>
                <a:latin typeface="Poppins Light"/>
                <a:ea typeface="Poppins Light"/>
                <a:cs typeface="Poppins Light"/>
                <a:sym typeface="Poppins Light"/>
              </a:rPr>
              <a:t> di </a:t>
            </a:r>
            <a:r>
              <a:rPr lang="en-US" sz="2700" dirty="0" err="1">
                <a:solidFill>
                  <a:srgbClr val="545454"/>
                </a:solidFill>
                <a:latin typeface="Poppins Light"/>
                <a:ea typeface="Poppins Light"/>
                <a:cs typeface="Poppins Light"/>
                <a:sym typeface="Poppins Light"/>
              </a:rPr>
              <a:t>Kabupaten</a:t>
            </a:r>
            <a:r>
              <a:rPr lang="en-US" sz="2700" dirty="0">
                <a:solidFill>
                  <a:srgbClr val="545454"/>
                </a:solidFill>
                <a:latin typeface="Poppins Light"/>
                <a:ea typeface="Poppins Light"/>
                <a:cs typeface="Poppins Light"/>
                <a:sym typeface="Poppins Light"/>
              </a:rPr>
              <a:t> Malang, </a:t>
            </a:r>
            <a:r>
              <a:rPr lang="en-US" sz="2700" dirty="0" err="1">
                <a:solidFill>
                  <a:srgbClr val="545454"/>
                </a:solidFill>
                <a:latin typeface="Poppins Light"/>
                <a:ea typeface="Poppins Light"/>
                <a:cs typeface="Poppins Light"/>
                <a:sym typeface="Poppins Light"/>
              </a:rPr>
              <a:t>terdiri</a:t>
            </a:r>
            <a:r>
              <a:rPr lang="en-US" sz="2700" dirty="0">
                <a:solidFill>
                  <a:srgbClr val="545454"/>
                </a:solidFill>
                <a:latin typeface="Poppins Light"/>
                <a:ea typeface="Poppins Light"/>
                <a:cs typeface="Poppins Light"/>
                <a:sym typeface="Poppins Light"/>
              </a:rPr>
              <a:t> </a:t>
            </a:r>
            <a:r>
              <a:rPr lang="en-US" sz="2700" dirty="0" err="1">
                <a:solidFill>
                  <a:srgbClr val="545454"/>
                </a:solidFill>
                <a:latin typeface="Poppins Light"/>
                <a:ea typeface="Poppins Light"/>
                <a:cs typeface="Poppins Light"/>
                <a:sym typeface="Poppins Light"/>
              </a:rPr>
              <a:t>atas</a:t>
            </a:r>
            <a:r>
              <a:rPr lang="en-US" sz="2700" dirty="0">
                <a:solidFill>
                  <a:srgbClr val="545454"/>
                </a:solidFill>
                <a:latin typeface="Poppins Light"/>
                <a:ea typeface="Poppins Light"/>
                <a:cs typeface="Poppins Light"/>
                <a:sym typeface="Poppins Light"/>
              </a:rPr>
              <a:t>:</a:t>
            </a:r>
            <a:br>
              <a:rPr lang="en-US" sz="2700" dirty="0">
                <a:solidFill>
                  <a:srgbClr val="545454"/>
                </a:solidFill>
                <a:latin typeface="Poppins Light"/>
                <a:ea typeface="Poppins Light"/>
                <a:cs typeface="Poppins Light"/>
                <a:sym typeface="Poppins Light"/>
              </a:rPr>
            </a:br>
            <a:r>
              <a:rPr lang="en-US" sz="2700" dirty="0">
                <a:solidFill>
                  <a:srgbClr val="545454"/>
                </a:solidFill>
                <a:latin typeface="Poppins Light"/>
                <a:ea typeface="Poppins Light"/>
                <a:cs typeface="Poppins Light"/>
                <a:sym typeface="Poppins Light"/>
              </a:rPr>
              <a:t>&gt;&gt; </a:t>
            </a:r>
            <a:r>
              <a:rPr lang="en-US" sz="2700" dirty="0" err="1">
                <a:solidFill>
                  <a:srgbClr val="545454"/>
                </a:solidFill>
                <a:latin typeface="Poppins Light"/>
                <a:ea typeface="Poppins Light"/>
                <a:cs typeface="Poppins Light"/>
                <a:sym typeface="Poppins Light"/>
              </a:rPr>
              <a:t>Kecamatan</a:t>
            </a:r>
            <a:endParaRPr lang="en-US" sz="2700" dirty="0">
              <a:solidFill>
                <a:srgbClr val="545454"/>
              </a:solidFill>
              <a:latin typeface="Poppins Light"/>
              <a:ea typeface="Poppins Light"/>
              <a:cs typeface="Poppins Light"/>
              <a:sym typeface="Poppins Light"/>
            </a:endParaRPr>
          </a:p>
          <a:p>
            <a:pPr>
              <a:lnSpc>
                <a:spcPts val="4050"/>
              </a:lnSpc>
            </a:pPr>
            <a:r>
              <a:rPr lang="en-US" sz="2700" dirty="0">
                <a:solidFill>
                  <a:srgbClr val="545454"/>
                </a:solidFill>
                <a:latin typeface="Poppins Light"/>
                <a:ea typeface="Poppins Light"/>
                <a:cs typeface="Poppins Light"/>
                <a:sym typeface="Poppins Light"/>
              </a:rPr>
              <a:t>&gt;&gt; </a:t>
            </a:r>
            <a:r>
              <a:rPr lang="en-US" sz="2700" dirty="0" err="1">
                <a:solidFill>
                  <a:srgbClr val="545454"/>
                </a:solidFill>
                <a:latin typeface="Poppins Light"/>
                <a:ea typeface="Poppins Light"/>
                <a:cs typeface="Poppins Light"/>
                <a:sym typeface="Poppins Light"/>
              </a:rPr>
              <a:t>Tahun</a:t>
            </a:r>
            <a:endParaRPr lang="en-US" sz="2700" dirty="0">
              <a:solidFill>
                <a:srgbClr val="545454"/>
              </a:solidFill>
              <a:latin typeface="Poppins Light"/>
              <a:ea typeface="Poppins Light"/>
              <a:cs typeface="Poppins Light"/>
              <a:sym typeface="Poppins Light"/>
            </a:endParaRPr>
          </a:p>
          <a:p>
            <a:pPr>
              <a:lnSpc>
                <a:spcPts val="4050"/>
              </a:lnSpc>
            </a:pPr>
            <a:r>
              <a:rPr lang="en-US" sz="2700" dirty="0">
                <a:solidFill>
                  <a:srgbClr val="545454"/>
                </a:solidFill>
                <a:latin typeface="Poppins Light"/>
                <a:ea typeface="Poppins Light"/>
                <a:cs typeface="Poppins Light"/>
                <a:sym typeface="Poppins Light"/>
              </a:rPr>
              <a:t>&gt;&gt; Luas </a:t>
            </a:r>
            <a:r>
              <a:rPr lang="en-US" sz="2700" dirty="0" err="1">
                <a:solidFill>
                  <a:srgbClr val="545454"/>
                </a:solidFill>
                <a:latin typeface="Poppins Light"/>
                <a:ea typeface="Poppins Light"/>
                <a:cs typeface="Poppins Light"/>
                <a:sym typeface="Poppins Light"/>
              </a:rPr>
              <a:t>panen</a:t>
            </a:r>
            <a:endParaRPr lang="en-US" sz="2700" dirty="0">
              <a:solidFill>
                <a:srgbClr val="545454"/>
              </a:solidFill>
              <a:latin typeface="Poppins Light"/>
              <a:ea typeface="Poppins Light"/>
              <a:cs typeface="Poppins Light"/>
              <a:sym typeface="Poppins Light"/>
            </a:endParaRPr>
          </a:p>
          <a:p>
            <a:pPr>
              <a:lnSpc>
                <a:spcPts val="4050"/>
              </a:lnSpc>
            </a:pPr>
            <a:r>
              <a:rPr lang="en-US" sz="2700" dirty="0">
                <a:solidFill>
                  <a:srgbClr val="545454"/>
                </a:solidFill>
                <a:latin typeface="Poppins Light"/>
                <a:ea typeface="Poppins Light"/>
                <a:cs typeface="Poppins Light"/>
                <a:sym typeface="Poppins Light"/>
              </a:rPr>
              <a:t>&gt;&gt; Rata-rata </a:t>
            </a:r>
            <a:r>
              <a:rPr lang="en-US" sz="2700" dirty="0" err="1">
                <a:solidFill>
                  <a:srgbClr val="545454"/>
                </a:solidFill>
                <a:latin typeface="Poppins Light"/>
                <a:ea typeface="Poppins Light"/>
                <a:cs typeface="Poppins Light"/>
                <a:sym typeface="Poppins Light"/>
              </a:rPr>
              <a:t>produksi</a:t>
            </a:r>
            <a:endParaRPr lang="en-US" sz="2700" dirty="0">
              <a:solidFill>
                <a:srgbClr val="545454"/>
              </a:solidFill>
              <a:latin typeface="Poppins Light"/>
              <a:ea typeface="Poppins Light"/>
              <a:cs typeface="Poppins Light"/>
              <a:sym typeface="Poppins Light"/>
            </a:endParaRPr>
          </a:p>
          <a:p>
            <a:pPr>
              <a:lnSpc>
                <a:spcPts val="4050"/>
              </a:lnSpc>
            </a:pPr>
            <a:r>
              <a:rPr lang="en-US" sz="2700" dirty="0">
                <a:solidFill>
                  <a:srgbClr val="545454"/>
                </a:solidFill>
                <a:latin typeface="Poppins Light"/>
                <a:ea typeface="Poppins Light"/>
                <a:cs typeface="Poppins Light"/>
                <a:sym typeface="Poppins Light"/>
              </a:rPr>
              <a:t>&gt;&gt; </a:t>
            </a:r>
            <a:r>
              <a:rPr lang="en-US" sz="2700" dirty="0" err="1">
                <a:solidFill>
                  <a:srgbClr val="545454"/>
                </a:solidFill>
                <a:latin typeface="Poppins Light"/>
                <a:ea typeface="Poppins Light"/>
                <a:cs typeface="Poppins Light"/>
                <a:sym typeface="Poppins Light"/>
              </a:rPr>
              <a:t>Produksi</a:t>
            </a:r>
            <a:endParaRPr lang="en-US" sz="2700" dirty="0">
              <a:solidFill>
                <a:srgbClr val="545454"/>
              </a:solidFill>
              <a:latin typeface="Poppins Light"/>
              <a:ea typeface="Poppins Light"/>
              <a:cs typeface="Poppins Light"/>
              <a:sym typeface="Poppins Light"/>
            </a:endParaRPr>
          </a:p>
          <a:p>
            <a:pPr>
              <a:lnSpc>
                <a:spcPts val="4050"/>
              </a:lnSpc>
            </a:pPr>
            <a:r>
              <a:rPr lang="en-US" sz="2700" dirty="0">
                <a:solidFill>
                  <a:srgbClr val="545454"/>
                </a:solidFill>
                <a:latin typeface="Poppins Light"/>
                <a:ea typeface="Poppins Light"/>
                <a:cs typeface="Poppins Light"/>
                <a:sym typeface="Poppins Light"/>
              </a:rPr>
              <a:t>&gt;&gt;</a:t>
            </a:r>
            <a:r>
              <a:rPr lang="en-US" sz="2700" dirty="0" err="1">
                <a:solidFill>
                  <a:srgbClr val="545454"/>
                </a:solidFill>
                <a:latin typeface="Poppins Light"/>
                <a:ea typeface="Poppins Light"/>
                <a:cs typeface="Poppins Light"/>
                <a:sym typeface="Poppins Light"/>
              </a:rPr>
              <a:t>Tavg</a:t>
            </a:r>
            <a:r>
              <a:rPr lang="en-US" sz="2700" dirty="0">
                <a:solidFill>
                  <a:srgbClr val="545454"/>
                </a:solidFill>
                <a:latin typeface="Poppins Light"/>
                <a:ea typeface="Poppins Light"/>
                <a:cs typeface="Poppins Light"/>
                <a:sym typeface="Poppins Light"/>
              </a:rPr>
              <a:t>: </a:t>
            </a:r>
            <a:r>
              <a:rPr lang="en-US" sz="2700" dirty="0" err="1">
                <a:solidFill>
                  <a:srgbClr val="545454"/>
                </a:solidFill>
                <a:latin typeface="Poppins Light"/>
                <a:ea typeface="Poppins Light"/>
                <a:cs typeface="Poppins Light"/>
                <a:sym typeface="Poppins Light"/>
              </a:rPr>
              <a:t>Temperatur</a:t>
            </a:r>
            <a:r>
              <a:rPr lang="en-US" sz="2700" dirty="0">
                <a:solidFill>
                  <a:srgbClr val="545454"/>
                </a:solidFill>
                <a:latin typeface="Poppins Light"/>
                <a:ea typeface="Poppins Light"/>
                <a:cs typeface="Poppins Light"/>
                <a:sym typeface="Poppins Light"/>
              </a:rPr>
              <a:t> rata-rata(°C) </a:t>
            </a:r>
          </a:p>
          <a:p>
            <a:pPr>
              <a:lnSpc>
                <a:spcPts val="4050"/>
              </a:lnSpc>
            </a:pPr>
            <a:r>
              <a:rPr lang="en-US" sz="2700" dirty="0">
                <a:solidFill>
                  <a:srgbClr val="545454"/>
                </a:solidFill>
                <a:latin typeface="Poppins Light"/>
                <a:ea typeface="Poppins Light"/>
                <a:cs typeface="Poppins Light"/>
                <a:sym typeface="Poppins Light"/>
              </a:rPr>
              <a:t>&gt;&gt; </a:t>
            </a:r>
            <a:r>
              <a:rPr lang="en-US" sz="2700" dirty="0" err="1">
                <a:solidFill>
                  <a:srgbClr val="545454"/>
                </a:solidFill>
                <a:latin typeface="Poppins Light"/>
                <a:ea typeface="Poppins Light"/>
                <a:cs typeface="Poppins Light"/>
                <a:sym typeface="Poppins Light"/>
              </a:rPr>
              <a:t>RH_avg</a:t>
            </a:r>
            <a:r>
              <a:rPr lang="en-US" sz="2700" dirty="0">
                <a:solidFill>
                  <a:srgbClr val="545454"/>
                </a:solidFill>
                <a:latin typeface="Poppins Light"/>
                <a:ea typeface="Poppins Light"/>
                <a:cs typeface="Poppins Light"/>
                <a:sym typeface="Poppins Light"/>
              </a:rPr>
              <a:t>: </a:t>
            </a:r>
            <a:r>
              <a:rPr lang="en-US" sz="2700" dirty="0" err="1">
                <a:solidFill>
                  <a:srgbClr val="545454"/>
                </a:solidFill>
                <a:latin typeface="Poppins Light"/>
                <a:ea typeface="Poppins Light"/>
                <a:cs typeface="Poppins Light"/>
                <a:sym typeface="Poppins Light"/>
              </a:rPr>
              <a:t>Kelembapan</a:t>
            </a:r>
            <a:r>
              <a:rPr lang="en-US" sz="2700" dirty="0">
                <a:solidFill>
                  <a:srgbClr val="545454"/>
                </a:solidFill>
                <a:latin typeface="Poppins Light"/>
                <a:ea typeface="Poppins Light"/>
                <a:cs typeface="Poppins Light"/>
                <a:sym typeface="Poppins Light"/>
              </a:rPr>
              <a:t> rata-rata(%) </a:t>
            </a:r>
          </a:p>
          <a:p>
            <a:pPr>
              <a:lnSpc>
                <a:spcPts val="4050"/>
              </a:lnSpc>
            </a:pPr>
            <a:r>
              <a:rPr lang="en-US" sz="2700" dirty="0">
                <a:solidFill>
                  <a:srgbClr val="545454"/>
                </a:solidFill>
                <a:latin typeface="Poppins Light"/>
                <a:ea typeface="Poppins Light"/>
                <a:cs typeface="Poppins Light"/>
                <a:sym typeface="Poppins Light"/>
              </a:rPr>
              <a:t>&gt;&gt; RR: Curah </a:t>
            </a:r>
            <a:r>
              <a:rPr lang="en-US" sz="2700" dirty="0" err="1">
                <a:solidFill>
                  <a:srgbClr val="545454"/>
                </a:solidFill>
                <a:latin typeface="Poppins Light"/>
                <a:ea typeface="Poppins Light"/>
                <a:cs typeface="Poppins Light"/>
                <a:sym typeface="Poppins Light"/>
              </a:rPr>
              <a:t>hujan</a:t>
            </a:r>
            <a:r>
              <a:rPr lang="en-US" sz="2700" dirty="0">
                <a:solidFill>
                  <a:srgbClr val="545454"/>
                </a:solidFill>
                <a:latin typeface="Poppins Light"/>
                <a:ea typeface="Poppins Light"/>
                <a:cs typeface="Poppins Light"/>
                <a:sym typeface="Poppins Light"/>
              </a:rPr>
              <a:t>(mm) </a:t>
            </a:r>
          </a:p>
          <a:p>
            <a:pPr>
              <a:lnSpc>
                <a:spcPts val="4050"/>
              </a:lnSpc>
            </a:pPr>
            <a:r>
              <a:rPr lang="en-US" sz="2700" dirty="0">
                <a:solidFill>
                  <a:srgbClr val="545454"/>
                </a:solidFill>
                <a:latin typeface="Poppins Light"/>
                <a:ea typeface="Poppins Light"/>
                <a:cs typeface="Poppins Light"/>
                <a:sym typeface="Poppins Light"/>
              </a:rPr>
              <a:t>&gt;&gt;ss: Lamanya </a:t>
            </a:r>
            <a:r>
              <a:rPr lang="en-US" sz="2700" dirty="0" err="1">
                <a:solidFill>
                  <a:srgbClr val="545454"/>
                </a:solidFill>
                <a:latin typeface="Poppins Light"/>
                <a:ea typeface="Poppins Light"/>
                <a:cs typeface="Poppins Light"/>
                <a:sym typeface="Poppins Light"/>
              </a:rPr>
              <a:t>penyinaran</a:t>
            </a:r>
            <a:r>
              <a:rPr lang="en-US" sz="2700" dirty="0">
                <a:solidFill>
                  <a:srgbClr val="545454"/>
                </a:solidFill>
                <a:latin typeface="Poppins Light"/>
                <a:ea typeface="Poppins Light"/>
                <a:cs typeface="Poppins Light"/>
                <a:sym typeface="Poppins Light"/>
              </a:rPr>
              <a:t> </a:t>
            </a:r>
            <a:r>
              <a:rPr lang="en-US" sz="2700" dirty="0" err="1">
                <a:solidFill>
                  <a:srgbClr val="545454"/>
                </a:solidFill>
                <a:latin typeface="Poppins Light"/>
                <a:ea typeface="Poppins Light"/>
                <a:cs typeface="Poppins Light"/>
                <a:sym typeface="Poppins Light"/>
              </a:rPr>
              <a:t>matahari</a:t>
            </a:r>
            <a:r>
              <a:rPr lang="en-US" sz="2700" dirty="0">
                <a:solidFill>
                  <a:srgbClr val="545454"/>
                </a:solidFill>
                <a:latin typeface="Poppins Light"/>
                <a:ea typeface="Poppins Light"/>
                <a:cs typeface="Poppins Light"/>
                <a:sym typeface="Poppins Light"/>
              </a:rPr>
              <a:t>(jam)</a:t>
            </a:r>
          </a:p>
        </p:txBody>
      </p:sp>
      <p:sp>
        <p:nvSpPr>
          <p:cNvPr id="11" name="Rectangle 1">
            <a:extLst>
              <a:ext uri="{FF2B5EF4-FFF2-40B4-BE49-F238E27FC236}">
                <a16:creationId xmlns:a16="http://schemas.microsoft.com/office/drawing/2014/main" id="{A30E92ED-7A60-794B-AF42-02260070F472}"/>
              </a:ext>
            </a:extLst>
          </p:cNvPr>
          <p:cNvSpPr>
            <a:spLocks noChangeArrowheads="1"/>
          </p:cNvSpPr>
          <p:nvPr/>
        </p:nvSpPr>
        <p:spPr bwMode="auto">
          <a:xfrm>
            <a:off x="9600896" y="2747278"/>
            <a:ext cx="34674422" cy="5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10" name="Picture 9">
            <a:extLst>
              <a:ext uri="{FF2B5EF4-FFF2-40B4-BE49-F238E27FC236}">
                <a16:creationId xmlns:a16="http://schemas.microsoft.com/office/drawing/2014/main" id="{00D2581D-E0D2-CF99-BAA4-4779C47C3367}"/>
              </a:ext>
            </a:extLst>
          </p:cNvPr>
          <p:cNvPicPr>
            <a:picLocks noChangeAspect="1"/>
          </p:cNvPicPr>
          <p:nvPr/>
        </p:nvPicPr>
        <p:blipFill>
          <a:blip r:embed="rId6"/>
          <a:stretch>
            <a:fillRect/>
          </a:stretch>
        </p:blipFill>
        <p:spPr>
          <a:xfrm>
            <a:off x="8038746" y="4313772"/>
            <a:ext cx="9991295" cy="522021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12888" r="-12888"/>
            </a:stretch>
          </a:blipFill>
        </p:spPr>
      </p:sp>
      <p:sp>
        <p:nvSpPr>
          <p:cNvPr id="3" name="Freeform 3"/>
          <p:cNvSpPr/>
          <p:nvPr/>
        </p:nvSpPr>
        <p:spPr>
          <a:xfrm>
            <a:off x="14373607" y="-248241"/>
            <a:ext cx="4609254" cy="3117275"/>
          </a:xfrm>
          <a:custGeom>
            <a:avLst/>
            <a:gdLst/>
            <a:ahLst/>
            <a:cxnLst/>
            <a:rect l="l" t="t" r="r" b="b"/>
            <a:pathLst>
              <a:path w="4609254" h="3117275">
                <a:moveTo>
                  <a:pt x="0" y="0"/>
                </a:moveTo>
                <a:lnTo>
                  <a:pt x="4609254" y="0"/>
                </a:lnTo>
                <a:lnTo>
                  <a:pt x="4609254" y="3117274"/>
                </a:lnTo>
                <a:lnTo>
                  <a:pt x="0" y="3117274"/>
                </a:lnTo>
                <a:lnTo>
                  <a:pt x="0" y="0"/>
                </a:lnTo>
                <a:close/>
              </a:path>
            </a:pathLst>
          </a:custGeom>
          <a:blipFill>
            <a:blip r:embed="rId3">
              <a:alphaModFix amt="60000"/>
              <a:extLst>
                <a:ext uri="{96DAC541-7B7A-43D3-8B79-37D633B846F1}">
                  <asvg:svgBlip xmlns:asvg="http://schemas.microsoft.com/office/drawing/2016/SVG/main" r:embed="rId4"/>
                </a:ext>
              </a:extLst>
            </a:blip>
            <a:stretch>
              <a:fillRect t="-47861"/>
            </a:stretch>
          </a:blipFill>
          <a:ln cap="sq">
            <a:noFill/>
            <a:prstDash val="solid"/>
            <a:miter/>
          </a:ln>
        </p:spPr>
      </p:sp>
      <p:sp>
        <p:nvSpPr>
          <p:cNvPr id="4" name="Freeform 4"/>
          <p:cNvSpPr/>
          <p:nvPr/>
        </p:nvSpPr>
        <p:spPr>
          <a:xfrm>
            <a:off x="4665221" y="7135986"/>
            <a:ext cx="7087115" cy="5324195"/>
          </a:xfrm>
          <a:custGeom>
            <a:avLst/>
            <a:gdLst/>
            <a:ahLst/>
            <a:cxnLst/>
            <a:rect l="l" t="t" r="r" b="b"/>
            <a:pathLst>
              <a:path w="7087115" h="5324195">
                <a:moveTo>
                  <a:pt x="0" y="0"/>
                </a:moveTo>
                <a:lnTo>
                  <a:pt x="7087115" y="0"/>
                </a:lnTo>
                <a:lnTo>
                  <a:pt x="7087115" y="5324196"/>
                </a:lnTo>
                <a:lnTo>
                  <a:pt x="0" y="5324196"/>
                </a:lnTo>
                <a:lnTo>
                  <a:pt x="0" y="0"/>
                </a:lnTo>
                <a:close/>
              </a:path>
            </a:pathLst>
          </a:custGeom>
          <a:blipFill>
            <a:blip r:embed="rId5">
              <a:alphaModFix amt="12000"/>
            </a:blip>
            <a:stretch>
              <a:fillRect/>
            </a:stretch>
          </a:blipFill>
          <a:ln cap="sq">
            <a:noFill/>
            <a:prstDash val="solid"/>
            <a:miter/>
          </a:ln>
        </p:spPr>
      </p:sp>
      <p:grpSp>
        <p:nvGrpSpPr>
          <p:cNvPr id="5" name="Group 5"/>
          <p:cNvGrpSpPr/>
          <p:nvPr/>
        </p:nvGrpSpPr>
        <p:grpSpPr>
          <a:xfrm>
            <a:off x="1348207" y="2339443"/>
            <a:ext cx="6634028" cy="4069771"/>
            <a:chOff x="0" y="0"/>
            <a:chExt cx="1027785" cy="630514"/>
          </a:xfrm>
        </p:grpSpPr>
        <p:sp>
          <p:nvSpPr>
            <p:cNvPr id="6" name="Freeform 6"/>
            <p:cNvSpPr/>
            <p:nvPr/>
          </p:nvSpPr>
          <p:spPr>
            <a:xfrm>
              <a:off x="0" y="0"/>
              <a:ext cx="1027785" cy="630514"/>
            </a:xfrm>
            <a:custGeom>
              <a:avLst/>
              <a:gdLst/>
              <a:ahLst/>
              <a:cxnLst/>
              <a:rect l="l" t="t" r="r" b="b"/>
              <a:pathLst>
                <a:path w="1027785" h="630514">
                  <a:moveTo>
                    <a:pt x="49014" y="0"/>
                  </a:moveTo>
                  <a:lnTo>
                    <a:pt x="978770" y="0"/>
                  </a:lnTo>
                  <a:cubicBezTo>
                    <a:pt x="1005840" y="0"/>
                    <a:pt x="1027785" y="21944"/>
                    <a:pt x="1027785" y="49014"/>
                  </a:cubicBezTo>
                  <a:lnTo>
                    <a:pt x="1027785" y="581500"/>
                  </a:lnTo>
                  <a:cubicBezTo>
                    <a:pt x="1027785" y="608570"/>
                    <a:pt x="1005840" y="630514"/>
                    <a:pt x="978770" y="630514"/>
                  </a:cubicBezTo>
                  <a:lnTo>
                    <a:pt x="49014" y="630514"/>
                  </a:lnTo>
                  <a:cubicBezTo>
                    <a:pt x="21944" y="630514"/>
                    <a:pt x="0" y="608570"/>
                    <a:pt x="0" y="581500"/>
                  </a:cubicBezTo>
                  <a:lnTo>
                    <a:pt x="0" y="49014"/>
                  </a:lnTo>
                  <a:cubicBezTo>
                    <a:pt x="0" y="21944"/>
                    <a:pt x="21944" y="0"/>
                    <a:pt x="49014" y="0"/>
                  </a:cubicBezTo>
                  <a:close/>
                </a:path>
              </a:pathLst>
            </a:custGeom>
            <a:blipFill>
              <a:blip r:embed="rId6"/>
              <a:stretch>
                <a:fillRect t="-939" b="-939"/>
              </a:stretch>
            </a:blipFill>
            <a:ln w="28575" cap="rnd">
              <a:gradFill>
                <a:gsLst>
                  <a:gs pos="0">
                    <a:srgbClr val="DBDEE6">
                      <a:alpha val="26000"/>
                    </a:srgbClr>
                  </a:gs>
                  <a:gs pos="100000">
                    <a:srgbClr val="FAFAFA">
                      <a:alpha val="53000"/>
                    </a:srgbClr>
                  </a:gs>
                </a:gsLst>
                <a:lin ang="0"/>
              </a:gradFill>
              <a:prstDash val="solid"/>
              <a:round/>
            </a:ln>
          </p:spPr>
        </p:sp>
      </p:grpSp>
      <p:sp>
        <p:nvSpPr>
          <p:cNvPr id="8" name="TextBox 8"/>
          <p:cNvSpPr txBox="1"/>
          <p:nvPr/>
        </p:nvSpPr>
        <p:spPr>
          <a:xfrm>
            <a:off x="1348207" y="6840711"/>
            <a:ext cx="6860572" cy="1030605"/>
          </a:xfrm>
          <a:prstGeom prst="rect">
            <a:avLst/>
          </a:prstGeom>
        </p:spPr>
        <p:txBody>
          <a:bodyPr lIns="0" tIns="0" rIns="0" bIns="0" rtlCol="0" anchor="t">
            <a:spAutoFit/>
          </a:bodyPr>
          <a:lstStyle/>
          <a:p>
            <a:pPr algn="l">
              <a:lnSpc>
                <a:spcPts val="7200"/>
              </a:lnSpc>
            </a:pPr>
            <a:r>
              <a:rPr lang="en-US" sz="7200" b="1" spc="-215">
                <a:solidFill>
                  <a:srgbClr val="000000"/>
                </a:solidFill>
                <a:latin typeface="Poppins Bold"/>
                <a:ea typeface="Poppins Bold"/>
                <a:cs typeface="Poppins Bold"/>
                <a:sym typeface="Poppins Bold"/>
              </a:rPr>
              <a:t>Tujuan Hari ini </a:t>
            </a:r>
          </a:p>
        </p:txBody>
      </p:sp>
      <p:sp>
        <p:nvSpPr>
          <p:cNvPr id="9" name="TextBox 9"/>
          <p:cNvSpPr txBox="1"/>
          <p:nvPr/>
        </p:nvSpPr>
        <p:spPr>
          <a:xfrm>
            <a:off x="8706790" y="2562429"/>
            <a:ext cx="874420" cy="693420"/>
          </a:xfrm>
          <a:prstGeom prst="rect">
            <a:avLst/>
          </a:prstGeom>
        </p:spPr>
        <p:txBody>
          <a:bodyPr lIns="0" tIns="0" rIns="0" bIns="0" rtlCol="0" anchor="t">
            <a:spAutoFit/>
          </a:bodyPr>
          <a:lstStyle/>
          <a:p>
            <a:pPr algn="ctr">
              <a:lnSpc>
                <a:spcPts val="4800"/>
              </a:lnSpc>
            </a:pPr>
            <a:r>
              <a:rPr lang="en-US" sz="4800" b="1" spc="-144">
                <a:solidFill>
                  <a:srgbClr val="2C6EFF"/>
                </a:solidFill>
                <a:latin typeface="Poppins Bold"/>
                <a:ea typeface="Poppins Bold"/>
                <a:cs typeface="Poppins Bold"/>
                <a:sym typeface="Poppins Bold"/>
              </a:rPr>
              <a:t>01</a:t>
            </a:r>
          </a:p>
        </p:txBody>
      </p:sp>
      <p:sp>
        <p:nvSpPr>
          <p:cNvPr id="10" name="TextBox 10"/>
          <p:cNvSpPr txBox="1"/>
          <p:nvPr/>
        </p:nvSpPr>
        <p:spPr>
          <a:xfrm>
            <a:off x="10076510" y="2429079"/>
            <a:ext cx="6899020" cy="4125745"/>
          </a:xfrm>
          <a:prstGeom prst="rect">
            <a:avLst/>
          </a:prstGeom>
        </p:spPr>
        <p:txBody>
          <a:bodyPr lIns="0" tIns="0" rIns="0" bIns="0" rtlCol="0" anchor="t">
            <a:spAutoFit/>
          </a:bodyPr>
          <a:lstStyle/>
          <a:p>
            <a:pPr algn="l">
              <a:lnSpc>
                <a:spcPts val="3600"/>
              </a:lnSpc>
            </a:pPr>
            <a:r>
              <a:rPr lang="en-US" sz="2400" dirty="0" err="1">
                <a:solidFill>
                  <a:srgbClr val="545454"/>
                </a:solidFill>
                <a:latin typeface="Poppins Light"/>
                <a:ea typeface="Poppins Light"/>
                <a:cs typeface="Poppins Light"/>
                <a:sym typeface="Poppins Light"/>
              </a:rPr>
              <a:t>Tugas</a:t>
            </a:r>
            <a:r>
              <a:rPr lang="en-US" sz="2400" dirty="0">
                <a:solidFill>
                  <a:srgbClr val="545454"/>
                </a:solidFill>
                <a:latin typeface="Poppins Light"/>
                <a:ea typeface="Poppins Light"/>
                <a:cs typeface="Poppins Light"/>
                <a:sym typeface="Poppins Light"/>
              </a:rPr>
              <a:t> Anda </a:t>
            </a:r>
            <a:r>
              <a:rPr lang="en-US" sz="2400" dirty="0" err="1">
                <a:solidFill>
                  <a:srgbClr val="545454"/>
                </a:solidFill>
                <a:latin typeface="Poppins Light"/>
                <a:ea typeface="Poppins Light"/>
                <a:cs typeface="Poppins Light"/>
                <a:sym typeface="Poppins Light"/>
              </a:rPr>
              <a:t>hari</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ini</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adalah</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mengolah</a:t>
            </a:r>
            <a:r>
              <a:rPr lang="en-US" sz="2400" dirty="0">
                <a:solidFill>
                  <a:srgbClr val="545454"/>
                </a:solidFill>
                <a:latin typeface="Poppins Light"/>
                <a:ea typeface="Poppins Light"/>
                <a:cs typeface="Poppins Light"/>
                <a:sym typeface="Poppins Light"/>
              </a:rPr>
              <a:t> dataset </a:t>
            </a:r>
            <a:r>
              <a:rPr lang="en-US" sz="2400" dirty="0" err="1">
                <a:solidFill>
                  <a:srgbClr val="545454"/>
                </a:solidFill>
                <a:latin typeface="Poppins Light"/>
                <a:ea typeface="Poppins Light"/>
                <a:cs typeface="Poppins Light"/>
                <a:sym typeface="Poppins Light"/>
              </a:rPr>
              <a:t>Prediksi</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Panen</a:t>
            </a:r>
            <a:r>
              <a:rPr lang="en-US" sz="2400" dirty="0">
                <a:solidFill>
                  <a:srgbClr val="545454"/>
                </a:solidFill>
                <a:latin typeface="Poppins Light"/>
                <a:ea typeface="Poppins Light"/>
                <a:cs typeface="Poppins Light"/>
                <a:sym typeface="Poppins Light"/>
              </a:rPr>
              <a:t> Padi </a:t>
            </a:r>
            <a:r>
              <a:rPr lang="en-US" sz="2400" dirty="0" err="1">
                <a:solidFill>
                  <a:srgbClr val="545454"/>
                </a:solidFill>
                <a:latin typeface="Poppins Light"/>
                <a:ea typeface="Poppins Light"/>
                <a:cs typeface="Poppins Light"/>
                <a:sym typeface="Poppins Light"/>
              </a:rPr>
              <a:t>dengan</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regresi</a:t>
            </a:r>
            <a:r>
              <a:rPr lang="en-US" sz="2400" dirty="0">
                <a:solidFill>
                  <a:srgbClr val="545454"/>
                </a:solidFill>
                <a:latin typeface="Poppins Light"/>
                <a:ea typeface="Poppins Light"/>
                <a:cs typeface="Poppins Light"/>
                <a:sym typeface="Poppins Light"/>
              </a:rPr>
              <a:t> linier</a:t>
            </a:r>
          </a:p>
          <a:p>
            <a:pPr algn="l">
              <a:lnSpc>
                <a:spcPts val="3600"/>
              </a:lnSpc>
            </a:pPr>
            <a:r>
              <a:rPr lang="en-US" sz="2400" dirty="0" err="1">
                <a:solidFill>
                  <a:srgbClr val="545454"/>
                </a:solidFill>
                <a:latin typeface="Poppins Light"/>
                <a:ea typeface="Poppins Light"/>
                <a:cs typeface="Poppins Light"/>
                <a:sym typeface="Poppins Light"/>
              </a:rPr>
              <a:t>Peserta</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diminta</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melakukan</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tahapan</a:t>
            </a:r>
            <a:r>
              <a:rPr lang="en-US" sz="2400" dirty="0">
                <a:solidFill>
                  <a:srgbClr val="545454"/>
                </a:solidFill>
                <a:latin typeface="Poppins Light"/>
                <a:ea typeface="Poppins Light"/>
                <a:cs typeface="Poppins Light"/>
                <a:sym typeface="Poppins Light"/>
              </a:rPr>
              <a:t> data preparation, exploratory data analysis (EDA), </a:t>
            </a:r>
            <a:r>
              <a:rPr lang="en-US" sz="2400" dirty="0" err="1">
                <a:solidFill>
                  <a:srgbClr val="545454"/>
                </a:solidFill>
                <a:latin typeface="Poppins Light"/>
                <a:ea typeface="Poppins Light"/>
                <a:cs typeface="Poppins Light"/>
                <a:sym typeface="Poppins Light"/>
              </a:rPr>
              <a:t>pemodelan</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evaluasi</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hasil</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prediksi</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serta</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menyajikan</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hasil</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dalam</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bentuk</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visualisasi</a:t>
            </a:r>
            <a:r>
              <a:rPr lang="en-US" sz="2400" dirty="0">
                <a:solidFill>
                  <a:srgbClr val="545454"/>
                </a:solidFill>
                <a:latin typeface="Poppins Light"/>
                <a:ea typeface="Poppins Light"/>
                <a:cs typeface="Poppins Light"/>
                <a:sym typeface="Poppins Light"/>
              </a:rPr>
              <a:t> dan </a:t>
            </a:r>
            <a:r>
              <a:rPr lang="en-US" sz="2400" dirty="0" err="1">
                <a:solidFill>
                  <a:srgbClr val="545454"/>
                </a:solidFill>
                <a:latin typeface="Poppins Light"/>
                <a:ea typeface="Poppins Light"/>
                <a:cs typeface="Poppins Light"/>
                <a:sym typeface="Poppins Light"/>
              </a:rPr>
              <a:t>aplikasi</a:t>
            </a:r>
            <a:r>
              <a:rPr lang="en-US" sz="2400" dirty="0">
                <a:solidFill>
                  <a:srgbClr val="545454"/>
                </a:solidFill>
                <a:latin typeface="Poppins Light"/>
                <a:ea typeface="Poppins Light"/>
                <a:cs typeface="Poppins Light"/>
                <a:sym typeface="Poppins Light"/>
              </a:rPr>
              <a:t> </a:t>
            </a:r>
            <a:r>
              <a:rPr lang="en-US" sz="2400" dirty="0" err="1">
                <a:solidFill>
                  <a:srgbClr val="545454"/>
                </a:solidFill>
                <a:latin typeface="Poppins Light"/>
                <a:ea typeface="Poppins Light"/>
                <a:cs typeface="Poppins Light"/>
                <a:sym typeface="Poppins Light"/>
              </a:rPr>
              <a:t>sederhana</a:t>
            </a:r>
            <a:r>
              <a:rPr lang="en-US" sz="2400" dirty="0">
                <a:solidFill>
                  <a:srgbClr val="545454"/>
                </a:solidFill>
                <a:latin typeface="Poppins Light"/>
                <a:ea typeface="Poppins Light"/>
                <a:cs typeface="Poppins Light"/>
                <a:sym typeface="Poppins Light"/>
              </a:rPr>
              <a:t>.</a:t>
            </a:r>
          </a:p>
          <a:p>
            <a:pPr algn="l">
              <a:lnSpc>
                <a:spcPts val="3600"/>
              </a:lnSpc>
            </a:pPr>
            <a:endParaRPr lang="en-US" sz="2400" dirty="0">
              <a:solidFill>
                <a:srgbClr val="545454"/>
              </a:solidFill>
              <a:latin typeface="Poppins Light"/>
              <a:ea typeface="Poppins Light"/>
              <a:cs typeface="Poppins Light"/>
              <a:sym typeface="Poppins Light"/>
            </a:endParaRPr>
          </a:p>
        </p:txBody>
      </p:sp>
      <p:sp>
        <p:nvSpPr>
          <p:cNvPr id="11" name="Freeform 11"/>
          <p:cNvSpPr/>
          <p:nvPr/>
        </p:nvSpPr>
        <p:spPr>
          <a:xfrm>
            <a:off x="8455330" y="-190500"/>
            <a:ext cx="1377341" cy="1377341"/>
          </a:xfrm>
          <a:custGeom>
            <a:avLst/>
            <a:gdLst/>
            <a:ahLst/>
            <a:cxnLst/>
            <a:rect l="l" t="t" r="r" b="b"/>
            <a:pathLst>
              <a:path w="1377341" h="1377341">
                <a:moveTo>
                  <a:pt x="0" y="0"/>
                </a:moveTo>
                <a:lnTo>
                  <a:pt x="1377340" y="0"/>
                </a:lnTo>
                <a:lnTo>
                  <a:pt x="1377340" y="1377341"/>
                </a:lnTo>
                <a:lnTo>
                  <a:pt x="0" y="13773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TextBox 12"/>
          <p:cNvSpPr txBox="1"/>
          <p:nvPr/>
        </p:nvSpPr>
        <p:spPr>
          <a:xfrm>
            <a:off x="8706790" y="5715794"/>
            <a:ext cx="874420" cy="693420"/>
          </a:xfrm>
          <a:prstGeom prst="rect">
            <a:avLst/>
          </a:prstGeom>
        </p:spPr>
        <p:txBody>
          <a:bodyPr lIns="0" tIns="0" rIns="0" bIns="0" rtlCol="0" anchor="t">
            <a:spAutoFit/>
          </a:bodyPr>
          <a:lstStyle/>
          <a:p>
            <a:pPr algn="ctr">
              <a:lnSpc>
                <a:spcPts val="4800"/>
              </a:lnSpc>
            </a:pPr>
            <a:r>
              <a:rPr lang="en-US" sz="4800" b="1" spc="-144">
                <a:solidFill>
                  <a:srgbClr val="2C6EFF"/>
                </a:solidFill>
                <a:latin typeface="Poppins Bold"/>
                <a:ea typeface="Poppins Bold"/>
                <a:cs typeface="Poppins Bold"/>
                <a:sym typeface="Poppins Bold"/>
              </a:rPr>
              <a:t>02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12888" r="-12888"/>
            </a:stretch>
          </a:blipFill>
        </p:spPr>
      </p:sp>
      <p:sp>
        <p:nvSpPr>
          <p:cNvPr id="3" name="Freeform 3"/>
          <p:cNvSpPr/>
          <p:nvPr/>
        </p:nvSpPr>
        <p:spPr>
          <a:xfrm>
            <a:off x="15334471" y="-395921"/>
            <a:ext cx="3587362" cy="2393302"/>
          </a:xfrm>
          <a:custGeom>
            <a:avLst/>
            <a:gdLst/>
            <a:ahLst/>
            <a:cxnLst/>
            <a:rect l="l" t="t" r="r" b="b"/>
            <a:pathLst>
              <a:path w="3587362" h="2393302">
                <a:moveTo>
                  <a:pt x="0" y="0"/>
                </a:moveTo>
                <a:lnTo>
                  <a:pt x="3587363" y="0"/>
                </a:lnTo>
                <a:lnTo>
                  <a:pt x="3587363" y="2393302"/>
                </a:lnTo>
                <a:lnTo>
                  <a:pt x="0" y="2393302"/>
                </a:lnTo>
                <a:lnTo>
                  <a:pt x="0" y="0"/>
                </a:lnTo>
                <a:close/>
              </a:path>
            </a:pathLst>
          </a:custGeom>
          <a:blipFill>
            <a:blip r:embed="rId3">
              <a:extLst>
                <a:ext uri="{96DAC541-7B7A-43D3-8B79-37D633B846F1}">
                  <asvg:svgBlip xmlns:asvg="http://schemas.microsoft.com/office/drawing/2016/SVG/main" r:embed="rId4"/>
                </a:ext>
              </a:extLst>
            </a:blip>
            <a:stretch>
              <a:fillRect t="-49891"/>
            </a:stretch>
          </a:blipFill>
        </p:spPr>
      </p:sp>
      <p:sp>
        <p:nvSpPr>
          <p:cNvPr id="4" name="Freeform 4"/>
          <p:cNvSpPr/>
          <p:nvPr/>
        </p:nvSpPr>
        <p:spPr>
          <a:xfrm>
            <a:off x="2320423" y="3046441"/>
            <a:ext cx="13647153" cy="6687105"/>
          </a:xfrm>
          <a:custGeom>
            <a:avLst/>
            <a:gdLst/>
            <a:ahLst/>
            <a:cxnLst/>
            <a:rect l="l" t="t" r="r" b="b"/>
            <a:pathLst>
              <a:path w="13647153" h="6687105">
                <a:moveTo>
                  <a:pt x="0" y="0"/>
                </a:moveTo>
                <a:lnTo>
                  <a:pt x="13647154" y="0"/>
                </a:lnTo>
                <a:lnTo>
                  <a:pt x="13647154" y="6687105"/>
                </a:lnTo>
                <a:lnTo>
                  <a:pt x="0" y="6687105"/>
                </a:lnTo>
                <a:lnTo>
                  <a:pt x="0" y="0"/>
                </a:lnTo>
                <a:close/>
              </a:path>
            </a:pathLst>
          </a:custGeom>
          <a:blipFill>
            <a:blip r:embed="rId5"/>
            <a:stretch>
              <a:fillRect/>
            </a:stretch>
          </a:blipFill>
        </p:spPr>
      </p:sp>
      <p:sp>
        <p:nvSpPr>
          <p:cNvPr id="5" name="TextBox 5"/>
          <p:cNvSpPr txBox="1"/>
          <p:nvPr/>
        </p:nvSpPr>
        <p:spPr>
          <a:xfrm>
            <a:off x="4906653" y="735606"/>
            <a:ext cx="8712246" cy="1945005"/>
          </a:xfrm>
          <a:prstGeom prst="rect">
            <a:avLst/>
          </a:prstGeom>
        </p:spPr>
        <p:txBody>
          <a:bodyPr lIns="0" tIns="0" rIns="0" bIns="0" rtlCol="0" anchor="t">
            <a:spAutoFit/>
          </a:bodyPr>
          <a:lstStyle/>
          <a:p>
            <a:pPr algn="ctr">
              <a:lnSpc>
                <a:spcPts val="7200"/>
              </a:lnSpc>
            </a:pPr>
            <a:r>
              <a:rPr lang="en-US" sz="7200" b="1" spc="-215">
                <a:solidFill>
                  <a:srgbClr val="000000"/>
                </a:solidFill>
                <a:latin typeface="Poppins Bold"/>
                <a:ea typeface="Poppins Bold"/>
                <a:cs typeface="Poppins Bold"/>
                <a:sym typeface="Poppins Bold"/>
              </a:rPr>
              <a:t>Jadwal Bidang Lomba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2291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12888" r="-12888"/>
            </a:stretch>
          </a:blipFill>
        </p:spPr>
      </p:sp>
      <p:sp>
        <p:nvSpPr>
          <p:cNvPr id="3" name="Freeform 3"/>
          <p:cNvSpPr/>
          <p:nvPr/>
        </p:nvSpPr>
        <p:spPr>
          <a:xfrm>
            <a:off x="15334471" y="-395921"/>
            <a:ext cx="3587362" cy="2393302"/>
          </a:xfrm>
          <a:custGeom>
            <a:avLst/>
            <a:gdLst/>
            <a:ahLst/>
            <a:cxnLst/>
            <a:rect l="l" t="t" r="r" b="b"/>
            <a:pathLst>
              <a:path w="3587362" h="2393302">
                <a:moveTo>
                  <a:pt x="0" y="0"/>
                </a:moveTo>
                <a:lnTo>
                  <a:pt x="3587363" y="0"/>
                </a:lnTo>
                <a:lnTo>
                  <a:pt x="3587363" y="2393302"/>
                </a:lnTo>
                <a:lnTo>
                  <a:pt x="0" y="2393302"/>
                </a:lnTo>
                <a:lnTo>
                  <a:pt x="0" y="0"/>
                </a:lnTo>
                <a:close/>
              </a:path>
            </a:pathLst>
          </a:custGeom>
          <a:blipFill>
            <a:blip r:embed="rId3">
              <a:extLst>
                <a:ext uri="{96DAC541-7B7A-43D3-8B79-37D633B846F1}">
                  <asvg:svgBlip xmlns:asvg="http://schemas.microsoft.com/office/drawing/2016/SVG/main" r:embed="rId4"/>
                </a:ext>
              </a:extLst>
            </a:blip>
            <a:stretch>
              <a:fillRect t="-49891"/>
            </a:stretch>
          </a:blipFill>
        </p:spPr>
      </p:sp>
      <p:sp>
        <p:nvSpPr>
          <p:cNvPr id="4" name="TextBox 4"/>
          <p:cNvSpPr txBox="1"/>
          <p:nvPr/>
        </p:nvSpPr>
        <p:spPr>
          <a:xfrm>
            <a:off x="4906653" y="735606"/>
            <a:ext cx="8712246" cy="1030605"/>
          </a:xfrm>
          <a:prstGeom prst="rect">
            <a:avLst/>
          </a:prstGeom>
        </p:spPr>
        <p:txBody>
          <a:bodyPr lIns="0" tIns="0" rIns="0" bIns="0" rtlCol="0" anchor="t">
            <a:spAutoFit/>
          </a:bodyPr>
          <a:lstStyle/>
          <a:p>
            <a:pPr algn="ctr">
              <a:lnSpc>
                <a:spcPts val="7200"/>
              </a:lnSpc>
            </a:pPr>
            <a:r>
              <a:rPr lang="en-US" sz="7200" b="1" spc="-215">
                <a:solidFill>
                  <a:srgbClr val="000000"/>
                </a:solidFill>
                <a:latin typeface="Poppins Bold"/>
                <a:ea typeface="Poppins Bold"/>
                <a:cs typeface="Poppins Bold"/>
                <a:sym typeface="Poppins Bold"/>
              </a:rPr>
              <a:t>Modul A</a:t>
            </a:r>
          </a:p>
        </p:txBody>
      </p:sp>
      <p:sp>
        <p:nvSpPr>
          <p:cNvPr id="5" name="TextBox 5"/>
          <p:cNvSpPr txBox="1"/>
          <p:nvPr/>
        </p:nvSpPr>
        <p:spPr>
          <a:xfrm>
            <a:off x="1769708" y="4029357"/>
            <a:ext cx="14425963" cy="3333750"/>
          </a:xfrm>
          <a:prstGeom prst="rect">
            <a:avLst/>
          </a:prstGeom>
        </p:spPr>
        <p:txBody>
          <a:bodyPr lIns="0" tIns="0" rIns="0" bIns="0" rtlCol="0" anchor="t">
            <a:spAutoFit/>
          </a:bodyPr>
          <a:lstStyle/>
          <a:p>
            <a:pPr algn="just">
              <a:lnSpc>
                <a:spcPts val="3750"/>
              </a:lnSpc>
            </a:pPr>
            <a:r>
              <a:rPr lang="en-US" sz="2500" b="1">
                <a:solidFill>
                  <a:srgbClr val="000000"/>
                </a:solidFill>
                <a:latin typeface="Poppins Bold"/>
                <a:ea typeface="Poppins Bold"/>
                <a:cs typeface="Poppins Bold"/>
                <a:sym typeface="Poppins Bold"/>
              </a:rPr>
              <a:t>Instruksi:</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Import dataset Student Depression &amp; Lifestyle dalam format CSV menggunakan Python.</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Lakukan pengecekan struktur data, tipe data, dan jumlah data.</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Identifikasi keberadaan missing value dan perhatikan proporsi data </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Tentukan fitur (independent variable) dan label/target (dependent variable).</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Lakukan Exploratory Data Analysis (EDA) untuk memahami karakteristik data</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Sajikan hasil EDA dalam bentuk visualisasi grafik.</a:t>
            </a:r>
          </a:p>
        </p:txBody>
      </p:sp>
      <p:sp>
        <p:nvSpPr>
          <p:cNvPr id="6" name="TextBox 6"/>
          <p:cNvSpPr txBox="1"/>
          <p:nvPr/>
        </p:nvSpPr>
        <p:spPr>
          <a:xfrm>
            <a:off x="4787877" y="1611681"/>
            <a:ext cx="8712246" cy="1135380"/>
          </a:xfrm>
          <a:prstGeom prst="rect">
            <a:avLst/>
          </a:prstGeom>
        </p:spPr>
        <p:txBody>
          <a:bodyPr lIns="0" tIns="0" rIns="0" bIns="0" rtlCol="0" anchor="t">
            <a:spAutoFit/>
          </a:bodyPr>
          <a:lstStyle/>
          <a:p>
            <a:pPr algn="ctr">
              <a:lnSpc>
                <a:spcPts val="4200"/>
              </a:lnSpc>
            </a:pPr>
            <a:r>
              <a:rPr lang="en-US" sz="4200" spc="-126">
                <a:solidFill>
                  <a:srgbClr val="000000"/>
                </a:solidFill>
                <a:latin typeface="Poppins"/>
                <a:ea typeface="Poppins"/>
                <a:cs typeface="Poppins"/>
                <a:sym typeface="Poppins"/>
              </a:rPr>
              <a:t>Data Preparation &amp; Exploratory Data Analysis (EDA)</a:t>
            </a:r>
          </a:p>
        </p:txBody>
      </p:sp>
      <p:sp>
        <p:nvSpPr>
          <p:cNvPr id="7" name="TextBox 7"/>
          <p:cNvSpPr txBox="1"/>
          <p:nvPr/>
        </p:nvSpPr>
        <p:spPr>
          <a:xfrm>
            <a:off x="7129350" y="2807785"/>
            <a:ext cx="3919650" cy="1316822"/>
          </a:xfrm>
          <a:prstGeom prst="rect">
            <a:avLst/>
          </a:prstGeom>
        </p:spPr>
        <p:txBody>
          <a:bodyPr wrap="square" lIns="0" tIns="0" rIns="0" bIns="0" rtlCol="0" anchor="t">
            <a:spAutoFit/>
          </a:bodyPr>
          <a:lstStyle/>
          <a:p>
            <a:pPr algn="ctr">
              <a:lnSpc>
                <a:spcPts val="5135"/>
              </a:lnSpc>
              <a:spcBef>
                <a:spcPct val="0"/>
              </a:spcBef>
            </a:pPr>
            <a:r>
              <a:rPr lang="en-US" sz="3423" dirty="0">
                <a:solidFill>
                  <a:srgbClr val="000000"/>
                </a:solidFill>
                <a:latin typeface="Poppins Light"/>
                <a:ea typeface="Poppins Light"/>
                <a:cs typeface="Poppins Light"/>
                <a:sym typeface="Poppins Light"/>
              </a:rPr>
              <a:t>⏱️ Waktu: ± 1 Jam</a:t>
            </a:r>
          </a:p>
          <a:p>
            <a:pPr algn="ctr">
              <a:lnSpc>
                <a:spcPts val="5135"/>
              </a:lnSpc>
              <a:spcBef>
                <a:spcPct val="0"/>
              </a:spcBef>
            </a:pPr>
            <a:endParaRPr lang="en-US" sz="3423" dirty="0">
              <a:solidFill>
                <a:srgbClr val="000000"/>
              </a:solidFill>
              <a:latin typeface="Poppins Light"/>
              <a:ea typeface="Poppins Light"/>
              <a:cs typeface="Poppins Light"/>
              <a:sym typeface="Poppi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12888" r="-12888"/>
            </a:stretch>
          </a:blipFill>
        </p:spPr>
      </p:sp>
      <p:sp>
        <p:nvSpPr>
          <p:cNvPr id="3" name="Freeform 3"/>
          <p:cNvSpPr/>
          <p:nvPr/>
        </p:nvSpPr>
        <p:spPr>
          <a:xfrm>
            <a:off x="15334471" y="-395921"/>
            <a:ext cx="3587362" cy="2393302"/>
          </a:xfrm>
          <a:custGeom>
            <a:avLst/>
            <a:gdLst/>
            <a:ahLst/>
            <a:cxnLst/>
            <a:rect l="l" t="t" r="r" b="b"/>
            <a:pathLst>
              <a:path w="3587362" h="2393302">
                <a:moveTo>
                  <a:pt x="0" y="0"/>
                </a:moveTo>
                <a:lnTo>
                  <a:pt x="3587363" y="0"/>
                </a:lnTo>
                <a:lnTo>
                  <a:pt x="3587363" y="2393302"/>
                </a:lnTo>
                <a:lnTo>
                  <a:pt x="0" y="2393302"/>
                </a:lnTo>
                <a:lnTo>
                  <a:pt x="0" y="0"/>
                </a:lnTo>
                <a:close/>
              </a:path>
            </a:pathLst>
          </a:custGeom>
          <a:blipFill>
            <a:blip r:embed="rId3">
              <a:extLst>
                <a:ext uri="{96DAC541-7B7A-43D3-8B79-37D633B846F1}">
                  <asvg:svgBlip xmlns:asvg="http://schemas.microsoft.com/office/drawing/2016/SVG/main" r:embed="rId4"/>
                </a:ext>
              </a:extLst>
            </a:blip>
            <a:stretch>
              <a:fillRect t="-49891"/>
            </a:stretch>
          </a:blipFill>
        </p:spPr>
      </p:sp>
      <p:sp>
        <p:nvSpPr>
          <p:cNvPr id="4" name="TextBox 4"/>
          <p:cNvSpPr txBox="1"/>
          <p:nvPr/>
        </p:nvSpPr>
        <p:spPr>
          <a:xfrm>
            <a:off x="4906653" y="735606"/>
            <a:ext cx="8712246" cy="1030605"/>
          </a:xfrm>
          <a:prstGeom prst="rect">
            <a:avLst/>
          </a:prstGeom>
        </p:spPr>
        <p:txBody>
          <a:bodyPr lIns="0" tIns="0" rIns="0" bIns="0" rtlCol="0" anchor="t">
            <a:spAutoFit/>
          </a:bodyPr>
          <a:lstStyle/>
          <a:p>
            <a:pPr algn="ctr">
              <a:lnSpc>
                <a:spcPts val="7200"/>
              </a:lnSpc>
            </a:pPr>
            <a:r>
              <a:rPr lang="en-US" sz="7200" b="1" spc="-215">
                <a:solidFill>
                  <a:srgbClr val="000000"/>
                </a:solidFill>
                <a:latin typeface="Poppins Bold"/>
                <a:ea typeface="Poppins Bold"/>
                <a:cs typeface="Poppins Bold"/>
                <a:sym typeface="Poppins Bold"/>
              </a:rPr>
              <a:t>Modul B</a:t>
            </a:r>
          </a:p>
        </p:txBody>
      </p:sp>
      <p:sp>
        <p:nvSpPr>
          <p:cNvPr id="5" name="TextBox 5"/>
          <p:cNvSpPr txBox="1"/>
          <p:nvPr/>
        </p:nvSpPr>
        <p:spPr>
          <a:xfrm>
            <a:off x="1248055" y="4029357"/>
            <a:ext cx="15791891" cy="3810000"/>
          </a:xfrm>
          <a:prstGeom prst="rect">
            <a:avLst/>
          </a:prstGeom>
        </p:spPr>
        <p:txBody>
          <a:bodyPr lIns="0" tIns="0" rIns="0" bIns="0" rtlCol="0" anchor="t">
            <a:spAutoFit/>
          </a:bodyPr>
          <a:lstStyle/>
          <a:p>
            <a:pPr algn="just">
              <a:lnSpc>
                <a:spcPts val="3750"/>
              </a:lnSpc>
            </a:pPr>
            <a:r>
              <a:rPr lang="en-US" sz="2500" b="1">
                <a:solidFill>
                  <a:srgbClr val="000000"/>
                </a:solidFill>
                <a:latin typeface="Poppins Bold"/>
                <a:ea typeface="Poppins Bold"/>
                <a:cs typeface="Poppins Bold"/>
                <a:sym typeface="Poppins Bold"/>
              </a:rPr>
              <a:t>Instruksi:</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Gunakan dataset hasil Modul A.</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Bangun model prediksi menggunakan algoritma Linear Regression.</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Implementasikan Linear Regression secara manual menggunakan library yang disediakan</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Jelaskan konsep atau rumus Linear Regression yang digunakan.</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Lakukan proses training model untuk memperoleh parameter regresi.</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Gunakan model untuk melakukan prediksi terhadap data.</a:t>
            </a:r>
          </a:p>
          <a:p>
            <a:pPr algn="just">
              <a:lnSpc>
                <a:spcPts val="3750"/>
              </a:lnSpc>
            </a:pPr>
            <a:endParaRPr lang="en-US" sz="2500">
              <a:solidFill>
                <a:srgbClr val="000000"/>
              </a:solidFill>
              <a:latin typeface="Poppins Light"/>
              <a:ea typeface="Poppins Light"/>
              <a:cs typeface="Poppins Light"/>
              <a:sym typeface="Poppins Light"/>
            </a:endParaRPr>
          </a:p>
        </p:txBody>
      </p:sp>
      <p:sp>
        <p:nvSpPr>
          <p:cNvPr id="6" name="TextBox 6"/>
          <p:cNvSpPr txBox="1"/>
          <p:nvPr/>
        </p:nvSpPr>
        <p:spPr>
          <a:xfrm>
            <a:off x="4688897" y="1715441"/>
            <a:ext cx="9583272" cy="601980"/>
          </a:xfrm>
          <a:prstGeom prst="rect">
            <a:avLst/>
          </a:prstGeom>
        </p:spPr>
        <p:txBody>
          <a:bodyPr lIns="0" tIns="0" rIns="0" bIns="0" rtlCol="0" anchor="t">
            <a:spAutoFit/>
          </a:bodyPr>
          <a:lstStyle/>
          <a:p>
            <a:pPr algn="ctr">
              <a:lnSpc>
                <a:spcPts val="4200"/>
              </a:lnSpc>
            </a:pPr>
            <a:r>
              <a:rPr lang="en-US" sz="4200" spc="-126">
                <a:solidFill>
                  <a:srgbClr val="000000"/>
                </a:solidFill>
                <a:latin typeface="Poppins"/>
                <a:ea typeface="Poppins"/>
                <a:cs typeface="Poppins"/>
                <a:sym typeface="Poppins"/>
              </a:rPr>
              <a:t>Pemodelan Data (Linear Regression)</a:t>
            </a:r>
          </a:p>
        </p:txBody>
      </p:sp>
      <p:sp>
        <p:nvSpPr>
          <p:cNvPr id="7" name="TextBox 7"/>
          <p:cNvSpPr txBox="1"/>
          <p:nvPr/>
        </p:nvSpPr>
        <p:spPr>
          <a:xfrm>
            <a:off x="7068449" y="2807785"/>
            <a:ext cx="4285351" cy="1316822"/>
          </a:xfrm>
          <a:prstGeom prst="rect">
            <a:avLst/>
          </a:prstGeom>
        </p:spPr>
        <p:txBody>
          <a:bodyPr wrap="square" lIns="0" tIns="0" rIns="0" bIns="0" rtlCol="0" anchor="t">
            <a:spAutoFit/>
          </a:bodyPr>
          <a:lstStyle/>
          <a:p>
            <a:pPr algn="ctr">
              <a:lnSpc>
                <a:spcPts val="5135"/>
              </a:lnSpc>
              <a:spcBef>
                <a:spcPct val="0"/>
              </a:spcBef>
            </a:pPr>
            <a:r>
              <a:rPr lang="en-US" sz="3423" dirty="0">
                <a:solidFill>
                  <a:srgbClr val="000000"/>
                </a:solidFill>
                <a:latin typeface="Poppins Light"/>
                <a:ea typeface="Poppins Light"/>
                <a:cs typeface="Poppins Light"/>
                <a:sym typeface="Poppins Light"/>
              </a:rPr>
              <a:t>⏱️ Waktu: ± 2 Jam</a:t>
            </a:r>
          </a:p>
          <a:p>
            <a:pPr algn="ctr">
              <a:lnSpc>
                <a:spcPts val="5135"/>
              </a:lnSpc>
              <a:spcBef>
                <a:spcPct val="0"/>
              </a:spcBef>
            </a:pPr>
            <a:endParaRPr lang="en-US" sz="3423" dirty="0">
              <a:solidFill>
                <a:srgbClr val="000000"/>
              </a:solidFill>
              <a:latin typeface="Poppins Light"/>
              <a:ea typeface="Poppins Light"/>
              <a:cs typeface="Poppins Light"/>
              <a:sym typeface="Poppins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12888" r="-12888"/>
            </a:stretch>
          </a:blipFill>
        </p:spPr>
      </p:sp>
      <p:sp>
        <p:nvSpPr>
          <p:cNvPr id="3" name="Freeform 3"/>
          <p:cNvSpPr/>
          <p:nvPr/>
        </p:nvSpPr>
        <p:spPr>
          <a:xfrm>
            <a:off x="15334471" y="-395921"/>
            <a:ext cx="3587362" cy="2393302"/>
          </a:xfrm>
          <a:custGeom>
            <a:avLst/>
            <a:gdLst/>
            <a:ahLst/>
            <a:cxnLst/>
            <a:rect l="l" t="t" r="r" b="b"/>
            <a:pathLst>
              <a:path w="3587362" h="2393302">
                <a:moveTo>
                  <a:pt x="0" y="0"/>
                </a:moveTo>
                <a:lnTo>
                  <a:pt x="3587363" y="0"/>
                </a:lnTo>
                <a:lnTo>
                  <a:pt x="3587363" y="2393302"/>
                </a:lnTo>
                <a:lnTo>
                  <a:pt x="0" y="2393302"/>
                </a:lnTo>
                <a:lnTo>
                  <a:pt x="0" y="0"/>
                </a:lnTo>
                <a:close/>
              </a:path>
            </a:pathLst>
          </a:custGeom>
          <a:blipFill>
            <a:blip r:embed="rId3">
              <a:extLst>
                <a:ext uri="{96DAC541-7B7A-43D3-8B79-37D633B846F1}">
                  <asvg:svgBlip xmlns:asvg="http://schemas.microsoft.com/office/drawing/2016/SVG/main" r:embed="rId4"/>
                </a:ext>
              </a:extLst>
            </a:blip>
            <a:stretch>
              <a:fillRect t="-49891"/>
            </a:stretch>
          </a:blipFill>
        </p:spPr>
      </p:sp>
      <p:sp>
        <p:nvSpPr>
          <p:cNvPr id="4" name="TextBox 4"/>
          <p:cNvSpPr txBox="1"/>
          <p:nvPr/>
        </p:nvSpPr>
        <p:spPr>
          <a:xfrm>
            <a:off x="4906653" y="735606"/>
            <a:ext cx="8712246" cy="1030605"/>
          </a:xfrm>
          <a:prstGeom prst="rect">
            <a:avLst/>
          </a:prstGeom>
        </p:spPr>
        <p:txBody>
          <a:bodyPr lIns="0" tIns="0" rIns="0" bIns="0" rtlCol="0" anchor="t">
            <a:spAutoFit/>
          </a:bodyPr>
          <a:lstStyle/>
          <a:p>
            <a:pPr algn="ctr">
              <a:lnSpc>
                <a:spcPts val="7200"/>
              </a:lnSpc>
            </a:pPr>
            <a:r>
              <a:rPr lang="en-US" sz="7200" b="1" spc="-215">
                <a:solidFill>
                  <a:srgbClr val="000000"/>
                </a:solidFill>
                <a:latin typeface="Poppins Bold"/>
                <a:ea typeface="Poppins Bold"/>
                <a:cs typeface="Poppins Bold"/>
                <a:sym typeface="Poppins Bold"/>
              </a:rPr>
              <a:t>Modul C</a:t>
            </a:r>
          </a:p>
        </p:txBody>
      </p:sp>
      <p:sp>
        <p:nvSpPr>
          <p:cNvPr id="5" name="TextBox 5"/>
          <p:cNvSpPr txBox="1"/>
          <p:nvPr/>
        </p:nvSpPr>
        <p:spPr>
          <a:xfrm>
            <a:off x="1248055" y="4029357"/>
            <a:ext cx="15791891" cy="5238750"/>
          </a:xfrm>
          <a:prstGeom prst="rect">
            <a:avLst/>
          </a:prstGeom>
        </p:spPr>
        <p:txBody>
          <a:bodyPr lIns="0" tIns="0" rIns="0" bIns="0" rtlCol="0" anchor="t">
            <a:spAutoFit/>
          </a:bodyPr>
          <a:lstStyle/>
          <a:p>
            <a:pPr algn="just">
              <a:lnSpc>
                <a:spcPts val="3750"/>
              </a:lnSpc>
            </a:pPr>
            <a:r>
              <a:rPr lang="en-US" sz="2500" b="1">
                <a:solidFill>
                  <a:srgbClr val="000000"/>
                </a:solidFill>
                <a:latin typeface="Poppins Bold"/>
                <a:ea typeface="Poppins Bold"/>
                <a:cs typeface="Poppins Bold"/>
                <a:sym typeface="Poppins Bold"/>
              </a:rPr>
              <a:t>Instruksi:</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Evaluasi performa model hasil Modul B.</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Hitung metrik evaluasi yang relevan, seperti:</a:t>
            </a:r>
          </a:p>
          <a:p>
            <a:pPr marL="1079502" lvl="2" indent="-359834" algn="just">
              <a:lnSpc>
                <a:spcPts val="3750"/>
              </a:lnSpc>
              <a:buFont typeface="Arial"/>
              <a:buChar char="⚬"/>
            </a:pPr>
            <a:r>
              <a:rPr lang="en-US" sz="2500">
                <a:solidFill>
                  <a:srgbClr val="000000"/>
                </a:solidFill>
                <a:latin typeface="Poppins Light"/>
                <a:ea typeface="Poppins Light"/>
                <a:cs typeface="Poppins Light"/>
                <a:sym typeface="Poppins Light"/>
              </a:rPr>
              <a:t>Akurasi</a:t>
            </a:r>
          </a:p>
          <a:p>
            <a:pPr marL="1079502" lvl="2" indent="-359834" algn="just">
              <a:lnSpc>
                <a:spcPts val="3750"/>
              </a:lnSpc>
              <a:buFont typeface="Arial"/>
              <a:buChar char="⚬"/>
            </a:pPr>
            <a:r>
              <a:rPr lang="en-US" sz="2500">
                <a:solidFill>
                  <a:srgbClr val="000000"/>
                </a:solidFill>
                <a:latin typeface="Poppins Light"/>
                <a:ea typeface="Poppins Light"/>
                <a:cs typeface="Poppins Light"/>
                <a:sym typeface="Poppins Light"/>
              </a:rPr>
              <a:t>Confusion Matrix</a:t>
            </a:r>
          </a:p>
          <a:p>
            <a:pPr marL="1079502" lvl="2" indent="-359834" algn="just">
              <a:lnSpc>
                <a:spcPts val="3750"/>
              </a:lnSpc>
              <a:buFont typeface="Arial"/>
              <a:buChar char="⚬"/>
            </a:pPr>
            <a:r>
              <a:rPr lang="en-US" sz="2500">
                <a:solidFill>
                  <a:srgbClr val="000000"/>
                </a:solidFill>
                <a:latin typeface="Poppins Light"/>
                <a:ea typeface="Poppins Light"/>
                <a:cs typeface="Poppins Light"/>
                <a:sym typeface="Poppins Light"/>
              </a:rPr>
              <a:t>Precision dan Recall (jika diperlukan)</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Analisis hasil evaluasi model dan jelaskan performa model.</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Jika hasil belum optimal, peserta diperbolehkan melakukan penyesuaian model secara logis dan kembali melakukan preprocessing data </a:t>
            </a:r>
          </a:p>
          <a:p>
            <a:pPr algn="just">
              <a:lnSpc>
                <a:spcPts val="3750"/>
              </a:lnSpc>
            </a:pPr>
            <a:endParaRPr lang="en-US" sz="2500">
              <a:solidFill>
                <a:srgbClr val="000000"/>
              </a:solidFill>
              <a:latin typeface="Poppins Light"/>
              <a:ea typeface="Poppins Light"/>
              <a:cs typeface="Poppins Light"/>
              <a:sym typeface="Poppins Light"/>
            </a:endParaRPr>
          </a:p>
          <a:p>
            <a:pPr algn="just">
              <a:lnSpc>
                <a:spcPts val="3750"/>
              </a:lnSpc>
            </a:pPr>
            <a:endParaRPr lang="en-US" sz="2500">
              <a:solidFill>
                <a:srgbClr val="000000"/>
              </a:solidFill>
              <a:latin typeface="Poppins Light"/>
              <a:ea typeface="Poppins Light"/>
              <a:cs typeface="Poppins Light"/>
              <a:sym typeface="Poppins Light"/>
            </a:endParaRPr>
          </a:p>
        </p:txBody>
      </p:sp>
      <p:sp>
        <p:nvSpPr>
          <p:cNvPr id="6" name="TextBox 6"/>
          <p:cNvSpPr txBox="1"/>
          <p:nvPr/>
        </p:nvSpPr>
        <p:spPr>
          <a:xfrm>
            <a:off x="4471140" y="1715441"/>
            <a:ext cx="9583272" cy="601980"/>
          </a:xfrm>
          <a:prstGeom prst="rect">
            <a:avLst/>
          </a:prstGeom>
        </p:spPr>
        <p:txBody>
          <a:bodyPr lIns="0" tIns="0" rIns="0" bIns="0" rtlCol="0" anchor="t">
            <a:spAutoFit/>
          </a:bodyPr>
          <a:lstStyle/>
          <a:p>
            <a:pPr algn="ctr">
              <a:lnSpc>
                <a:spcPts val="4200"/>
              </a:lnSpc>
            </a:pPr>
            <a:r>
              <a:rPr lang="en-US" sz="4200" spc="-126">
                <a:solidFill>
                  <a:srgbClr val="000000"/>
                </a:solidFill>
                <a:latin typeface="Poppins"/>
                <a:ea typeface="Poppins"/>
                <a:cs typeface="Poppins"/>
                <a:sym typeface="Poppins"/>
              </a:rPr>
              <a:t>Evaluasi Model Prediksi</a:t>
            </a:r>
          </a:p>
        </p:txBody>
      </p:sp>
      <p:sp>
        <p:nvSpPr>
          <p:cNvPr id="7" name="TextBox 7"/>
          <p:cNvSpPr txBox="1"/>
          <p:nvPr/>
        </p:nvSpPr>
        <p:spPr>
          <a:xfrm>
            <a:off x="7129350" y="2807785"/>
            <a:ext cx="4300650" cy="1316822"/>
          </a:xfrm>
          <a:prstGeom prst="rect">
            <a:avLst/>
          </a:prstGeom>
        </p:spPr>
        <p:txBody>
          <a:bodyPr wrap="square" lIns="0" tIns="0" rIns="0" bIns="0" rtlCol="0" anchor="t">
            <a:spAutoFit/>
          </a:bodyPr>
          <a:lstStyle/>
          <a:p>
            <a:pPr algn="ctr">
              <a:lnSpc>
                <a:spcPts val="5135"/>
              </a:lnSpc>
              <a:spcBef>
                <a:spcPct val="0"/>
              </a:spcBef>
            </a:pPr>
            <a:r>
              <a:rPr lang="en-US" sz="3423" dirty="0">
                <a:solidFill>
                  <a:srgbClr val="000000"/>
                </a:solidFill>
                <a:latin typeface="Poppins Light"/>
                <a:ea typeface="Poppins Light"/>
                <a:cs typeface="Poppins Light"/>
                <a:sym typeface="Poppins Light"/>
              </a:rPr>
              <a:t>⏱️ Waktu: ± 1 Jam</a:t>
            </a:r>
          </a:p>
          <a:p>
            <a:pPr algn="ctr">
              <a:lnSpc>
                <a:spcPts val="5135"/>
              </a:lnSpc>
              <a:spcBef>
                <a:spcPct val="0"/>
              </a:spcBef>
            </a:pPr>
            <a:endParaRPr lang="en-US" sz="3423" dirty="0">
              <a:solidFill>
                <a:srgbClr val="000000"/>
              </a:solidFill>
              <a:latin typeface="Poppins Light"/>
              <a:ea typeface="Poppins Light"/>
              <a:cs typeface="Poppins Light"/>
              <a:sym typeface="Poppi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12888" r="-12888"/>
            </a:stretch>
          </a:blipFill>
        </p:spPr>
      </p:sp>
      <p:sp>
        <p:nvSpPr>
          <p:cNvPr id="3" name="Freeform 3"/>
          <p:cNvSpPr/>
          <p:nvPr/>
        </p:nvSpPr>
        <p:spPr>
          <a:xfrm>
            <a:off x="15334471" y="-395921"/>
            <a:ext cx="3587362" cy="2393302"/>
          </a:xfrm>
          <a:custGeom>
            <a:avLst/>
            <a:gdLst/>
            <a:ahLst/>
            <a:cxnLst/>
            <a:rect l="l" t="t" r="r" b="b"/>
            <a:pathLst>
              <a:path w="3587362" h="2393302">
                <a:moveTo>
                  <a:pt x="0" y="0"/>
                </a:moveTo>
                <a:lnTo>
                  <a:pt x="3587363" y="0"/>
                </a:lnTo>
                <a:lnTo>
                  <a:pt x="3587363" y="2393302"/>
                </a:lnTo>
                <a:lnTo>
                  <a:pt x="0" y="2393302"/>
                </a:lnTo>
                <a:lnTo>
                  <a:pt x="0" y="0"/>
                </a:lnTo>
                <a:close/>
              </a:path>
            </a:pathLst>
          </a:custGeom>
          <a:blipFill>
            <a:blip r:embed="rId3">
              <a:extLst>
                <a:ext uri="{96DAC541-7B7A-43D3-8B79-37D633B846F1}">
                  <asvg:svgBlip xmlns:asvg="http://schemas.microsoft.com/office/drawing/2016/SVG/main" r:embed="rId4"/>
                </a:ext>
              </a:extLst>
            </a:blip>
            <a:stretch>
              <a:fillRect t="-49891"/>
            </a:stretch>
          </a:blipFill>
        </p:spPr>
      </p:sp>
      <p:sp>
        <p:nvSpPr>
          <p:cNvPr id="4" name="TextBox 4"/>
          <p:cNvSpPr txBox="1"/>
          <p:nvPr/>
        </p:nvSpPr>
        <p:spPr>
          <a:xfrm>
            <a:off x="4906653" y="735606"/>
            <a:ext cx="8712246" cy="1030605"/>
          </a:xfrm>
          <a:prstGeom prst="rect">
            <a:avLst/>
          </a:prstGeom>
        </p:spPr>
        <p:txBody>
          <a:bodyPr lIns="0" tIns="0" rIns="0" bIns="0" rtlCol="0" anchor="t">
            <a:spAutoFit/>
          </a:bodyPr>
          <a:lstStyle/>
          <a:p>
            <a:pPr algn="ctr">
              <a:lnSpc>
                <a:spcPts val="7200"/>
              </a:lnSpc>
            </a:pPr>
            <a:r>
              <a:rPr lang="en-US" sz="7200" b="1" spc="-215">
                <a:solidFill>
                  <a:srgbClr val="000000"/>
                </a:solidFill>
                <a:latin typeface="Poppins Bold"/>
                <a:ea typeface="Poppins Bold"/>
                <a:cs typeface="Poppins Bold"/>
                <a:sym typeface="Poppins Bold"/>
              </a:rPr>
              <a:t>Modul D</a:t>
            </a:r>
          </a:p>
        </p:txBody>
      </p:sp>
      <p:sp>
        <p:nvSpPr>
          <p:cNvPr id="5" name="TextBox 5"/>
          <p:cNvSpPr txBox="1"/>
          <p:nvPr/>
        </p:nvSpPr>
        <p:spPr>
          <a:xfrm>
            <a:off x="1248055" y="4029357"/>
            <a:ext cx="15791891" cy="3333750"/>
          </a:xfrm>
          <a:prstGeom prst="rect">
            <a:avLst/>
          </a:prstGeom>
        </p:spPr>
        <p:txBody>
          <a:bodyPr lIns="0" tIns="0" rIns="0" bIns="0" rtlCol="0" anchor="t">
            <a:spAutoFit/>
          </a:bodyPr>
          <a:lstStyle/>
          <a:p>
            <a:pPr algn="just">
              <a:lnSpc>
                <a:spcPts val="3750"/>
              </a:lnSpc>
            </a:pPr>
            <a:r>
              <a:rPr lang="en-US" sz="2500" b="1">
                <a:solidFill>
                  <a:srgbClr val="000000"/>
                </a:solidFill>
                <a:latin typeface="Poppins Bold"/>
                <a:ea typeface="Poppins Bold"/>
                <a:cs typeface="Poppins Bold"/>
                <a:sym typeface="Poppins Bold"/>
              </a:rPr>
              <a:t>Instruksi:</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Buat aplikasi sederhana berbasis GUI menggunakan Tkinter.</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Sediakan form input untuk memasukkan data baru sesuai fitur dataset.</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Hubungkan GUI dengan model terbaik</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Tampilkan hasil prediksi berdasarkan input pengguna.</a:t>
            </a:r>
          </a:p>
          <a:p>
            <a:pPr marL="539751" lvl="1" indent="-269876" algn="just">
              <a:lnSpc>
                <a:spcPts val="3750"/>
              </a:lnSpc>
              <a:buFont typeface="Arial"/>
              <a:buChar char="•"/>
            </a:pPr>
            <a:r>
              <a:rPr lang="en-US" sz="2500">
                <a:solidFill>
                  <a:srgbClr val="000000"/>
                </a:solidFill>
                <a:latin typeface="Poppins Light"/>
                <a:ea typeface="Poppins Light"/>
                <a:cs typeface="Poppins Light"/>
                <a:sym typeface="Poppins Light"/>
              </a:rPr>
              <a:t>Pastikan aplikasi berjalan dengan baik dan mudah digunakan</a:t>
            </a:r>
          </a:p>
          <a:p>
            <a:pPr algn="just">
              <a:lnSpc>
                <a:spcPts val="3750"/>
              </a:lnSpc>
            </a:pPr>
            <a:endParaRPr lang="en-US" sz="2500">
              <a:solidFill>
                <a:srgbClr val="000000"/>
              </a:solidFill>
              <a:latin typeface="Poppins Light"/>
              <a:ea typeface="Poppins Light"/>
              <a:cs typeface="Poppins Light"/>
              <a:sym typeface="Poppins Light"/>
            </a:endParaRPr>
          </a:p>
        </p:txBody>
      </p:sp>
      <p:sp>
        <p:nvSpPr>
          <p:cNvPr id="6" name="TextBox 6"/>
          <p:cNvSpPr txBox="1"/>
          <p:nvPr/>
        </p:nvSpPr>
        <p:spPr>
          <a:xfrm>
            <a:off x="4471140" y="1715441"/>
            <a:ext cx="9583272" cy="601980"/>
          </a:xfrm>
          <a:prstGeom prst="rect">
            <a:avLst/>
          </a:prstGeom>
        </p:spPr>
        <p:txBody>
          <a:bodyPr lIns="0" tIns="0" rIns="0" bIns="0" rtlCol="0" anchor="t">
            <a:spAutoFit/>
          </a:bodyPr>
          <a:lstStyle/>
          <a:p>
            <a:pPr algn="ctr">
              <a:lnSpc>
                <a:spcPts val="4200"/>
              </a:lnSpc>
            </a:pPr>
            <a:r>
              <a:rPr lang="en-US" sz="4200" spc="-126">
                <a:solidFill>
                  <a:srgbClr val="000000"/>
                </a:solidFill>
                <a:latin typeface="Poppins"/>
                <a:ea typeface="Poppins"/>
                <a:cs typeface="Poppins"/>
                <a:sym typeface="Poppins"/>
              </a:rPr>
              <a:t>Uji Coba Data Baru &amp; GUI</a:t>
            </a:r>
          </a:p>
        </p:txBody>
      </p:sp>
      <p:sp>
        <p:nvSpPr>
          <p:cNvPr id="7" name="TextBox 7"/>
          <p:cNvSpPr txBox="1"/>
          <p:nvPr/>
        </p:nvSpPr>
        <p:spPr>
          <a:xfrm>
            <a:off x="6787098" y="2512703"/>
            <a:ext cx="4951355" cy="1316822"/>
          </a:xfrm>
          <a:prstGeom prst="rect">
            <a:avLst/>
          </a:prstGeom>
        </p:spPr>
        <p:txBody>
          <a:bodyPr wrap="square" lIns="0" tIns="0" rIns="0" bIns="0" rtlCol="0" anchor="t">
            <a:spAutoFit/>
          </a:bodyPr>
          <a:lstStyle/>
          <a:p>
            <a:pPr algn="ctr">
              <a:lnSpc>
                <a:spcPts val="5135"/>
              </a:lnSpc>
              <a:spcBef>
                <a:spcPct val="0"/>
              </a:spcBef>
            </a:pPr>
            <a:r>
              <a:rPr lang="en-US" sz="3423" dirty="0">
                <a:solidFill>
                  <a:srgbClr val="000000"/>
                </a:solidFill>
                <a:latin typeface="Poppins Light"/>
                <a:ea typeface="Poppins Light"/>
                <a:cs typeface="Poppins Light"/>
                <a:sym typeface="Poppins Light"/>
              </a:rPr>
              <a:t>⏱️ Waktu: ± 2 Jam</a:t>
            </a:r>
          </a:p>
          <a:p>
            <a:pPr algn="ctr">
              <a:lnSpc>
                <a:spcPts val="5135"/>
              </a:lnSpc>
              <a:spcBef>
                <a:spcPct val="0"/>
              </a:spcBef>
            </a:pPr>
            <a:endParaRPr lang="en-US" sz="3423" dirty="0">
              <a:solidFill>
                <a:srgbClr val="000000"/>
              </a:solidFill>
              <a:latin typeface="Poppins Light"/>
              <a:ea typeface="Poppins Light"/>
              <a:cs typeface="Poppins Light"/>
              <a:sym typeface="Poppins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12888" r="-12888"/>
            </a:stretch>
          </a:blipFill>
        </p:spPr>
      </p:sp>
      <p:sp>
        <p:nvSpPr>
          <p:cNvPr id="3" name="Freeform 3"/>
          <p:cNvSpPr/>
          <p:nvPr/>
        </p:nvSpPr>
        <p:spPr>
          <a:xfrm>
            <a:off x="9144000" y="-663333"/>
            <a:ext cx="4662047" cy="4662047"/>
          </a:xfrm>
          <a:custGeom>
            <a:avLst/>
            <a:gdLst/>
            <a:ahLst/>
            <a:cxnLst/>
            <a:rect l="l" t="t" r="r" b="b"/>
            <a:pathLst>
              <a:path w="4662047" h="4662047">
                <a:moveTo>
                  <a:pt x="0" y="0"/>
                </a:moveTo>
                <a:lnTo>
                  <a:pt x="4662047" y="0"/>
                </a:lnTo>
                <a:lnTo>
                  <a:pt x="4662047" y="4662047"/>
                </a:lnTo>
                <a:lnTo>
                  <a:pt x="0" y="4662047"/>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TextBox 4"/>
          <p:cNvSpPr txBox="1"/>
          <p:nvPr/>
        </p:nvSpPr>
        <p:spPr>
          <a:xfrm>
            <a:off x="3814202" y="2389022"/>
            <a:ext cx="11311803" cy="1252219"/>
          </a:xfrm>
          <a:prstGeom prst="rect">
            <a:avLst/>
          </a:prstGeom>
        </p:spPr>
        <p:txBody>
          <a:bodyPr lIns="0" tIns="0" rIns="0" bIns="0" rtlCol="0" anchor="t">
            <a:spAutoFit/>
          </a:bodyPr>
          <a:lstStyle/>
          <a:p>
            <a:pPr algn="l">
              <a:lnSpc>
                <a:spcPts val="8799"/>
              </a:lnSpc>
            </a:pPr>
            <a:r>
              <a:rPr lang="en-US" sz="8799" b="1" spc="-263">
                <a:solidFill>
                  <a:srgbClr val="000000"/>
                </a:solidFill>
                <a:latin typeface="Poppins Bold"/>
                <a:ea typeface="Poppins Bold"/>
                <a:cs typeface="Poppins Bold"/>
                <a:sym typeface="Poppins Bold"/>
              </a:rPr>
              <a:t>Selamat Bertanding</a:t>
            </a:r>
          </a:p>
        </p:txBody>
      </p:sp>
      <p:sp>
        <p:nvSpPr>
          <p:cNvPr id="5" name="TextBox 5"/>
          <p:cNvSpPr txBox="1"/>
          <p:nvPr/>
        </p:nvSpPr>
        <p:spPr>
          <a:xfrm>
            <a:off x="2587503" y="4201477"/>
            <a:ext cx="13112994" cy="2093595"/>
          </a:xfrm>
          <a:prstGeom prst="rect">
            <a:avLst/>
          </a:prstGeom>
        </p:spPr>
        <p:txBody>
          <a:bodyPr lIns="0" tIns="0" rIns="0" bIns="0" rtlCol="0" anchor="t">
            <a:spAutoFit/>
          </a:bodyPr>
          <a:lstStyle/>
          <a:p>
            <a:pPr algn="ctr">
              <a:lnSpc>
                <a:spcPts val="4199"/>
              </a:lnSpc>
            </a:pPr>
            <a:r>
              <a:rPr lang="en-US" sz="2799">
                <a:solidFill>
                  <a:srgbClr val="545454"/>
                </a:solidFill>
                <a:latin typeface="Poppins Light"/>
                <a:ea typeface="Poppins Light"/>
                <a:cs typeface="Poppins Light"/>
                <a:sym typeface="Poppins Light"/>
              </a:rPr>
              <a:t>Kerjakan setiap modul secara sistematis sesuai waktu yang diberikan. Penilaian tidak hanya didasarkan pada hasil akhir, tetapi juga pada proses dan pemahaman peserta.</a:t>
            </a:r>
          </a:p>
          <a:p>
            <a:pPr algn="ctr">
              <a:lnSpc>
                <a:spcPts val="4199"/>
              </a:lnSpc>
            </a:pPr>
            <a:endParaRPr lang="en-US" sz="2799">
              <a:solidFill>
                <a:srgbClr val="545454"/>
              </a:solidFill>
              <a:latin typeface="Poppins Light"/>
              <a:ea typeface="Poppins Light"/>
              <a:cs typeface="Poppins Light"/>
              <a:sym typeface="Poppins Ligh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502</Words>
  <Application>Microsoft Office PowerPoint</Application>
  <PresentationFormat>Custom</PresentationFormat>
  <Paragraphs>77</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vt:lpstr>
      <vt:lpstr>Poppins Bold</vt:lpstr>
      <vt:lpstr>Poppins Light</vt:lpstr>
      <vt:lpstr>Arial</vt:lpstr>
      <vt:lpstr>Poppins</vt:lpstr>
      <vt:lpstr>Office Theme</vt:lpstr>
      <vt:lpstr>PowerPoint Presentation</vt:lpstr>
      <vt:lpstr>Menjamin ketersediaan pangan yang cukup,    aman, dan bergizi Mencegah kelaparan, gizi buruk, dan stunting Menjaga stabilitas sosial dan keamanan nasional Menopang pertumbuhan ekonomi dan    kesejahteraan petani Meningkatkan kualitas sumber daya manusia Mengurangi ketergantungan pada impor pangan Memperkuat kemandirian dan kedaulatan    pangan nasional Menghadapi dampak perubahan iklim dan krisis global Menjadi fondasi utama pembangunan berkelanjutan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LKS SMK TELKOM</dc:title>
  <cp:lastModifiedBy>Software Solution</cp:lastModifiedBy>
  <cp:revision>3</cp:revision>
  <dcterms:created xsi:type="dcterms:W3CDTF">2006-08-16T00:00:00Z</dcterms:created>
  <dcterms:modified xsi:type="dcterms:W3CDTF">2026-02-09T01:16:12Z</dcterms:modified>
  <dc:identifier>DAHART0CT4o</dc:identifier>
</cp:coreProperties>
</file>